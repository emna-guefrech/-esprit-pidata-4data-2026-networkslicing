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TT Firs Neue" charset="1" panose="02000503030000020004"/>
      <p:regular r:id="rId46"/>
    </p:embeddedFont>
    <p:embeddedFont>
      <p:font typeface="Heading Now 71-78" charset="1" panose="00000000000000000000"/>
      <p:regular r:id="rId47"/>
    </p:embeddedFont>
    <p:embeddedFont>
      <p:font typeface="TT Firs Neue Bold" charset="1" panose="02000803030000020004"/>
      <p:regular r:id="rId48"/>
    </p:embeddedFont>
    <p:embeddedFont>
      <p:font typeface="Open Sans Bold" charset="1" panose="020B0806030504020204"/>
      <p:regular r:id="rId49"/>
    </p:embeddedFont>
    <p:embeddedFont>
      <p:font typeface="Open Sans" charset="1" panose="020B0606030504020204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36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16" Target="../media/image52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6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71.png" Type="http://schemas.openxmlformats.org/officeDocument/2006/relationships/image"/><Relationship Id="rId13" Target="../media/image72.png" Type="http://schemas.openxmlformats.org/officeDocument/2006/relationships/image"/><Relationship Id="rId14" Target="../media/image73.pn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https://www.google.com/search?q=Multilayer+Perceptron&amp;sca_esv=031e7e0cba0603c0&amp;sxsrf=ANbL-n5sJwkmrwIMHYm02vXO7oSrdf1r9Q%3A1775055637689&amp;ei=FTPNaYPiKe2hi-gPuP3GgA4&amp;biw=1536&amp;bih=730&amp;oq=mlp+&amp;gs_lp=Egxnd3Mtd2l6LXNlcnAiBG1scCAqAggAMgQQIxgnMgoQABiABBiKBRhDMgoQABiABBiKBRhDMgoQABiABBiKBRhDMgUQLhiABDIFEAAYgAQyBRAAGIAEMgoQABiABBgUGIcCMgoQABiABBiKBRhDMgoQABiABBiKBRhDSKwMULgBWLgBcAF4AZABAJgBgwGgAYMBqgEDMC4xuAEByAEA-AEBmAICoAKQAcICBxAjGLADGCfCAgoQABhHGNYEGLADwgINEAAYgAQYigUYQxiwA8ICDhAAGOQCGNYEGLAD2AEBwgITEC4YgAQYigUYQxjIAxiwA9gBAZgDAIgGAZAGE7oGBggBEAEYCZIHAzEuMaAHnQiyBwMwLjG4B4gBwgcDMi0yyAcKgAgB&amp;sclient=gws-wiz-serp&amp;mstk=AUtExfCHpd4tybx4PlkFBCnTU1cBXTA1ekuMH0_wTpUF8iEol9DqJkF-wKtjSH57kqOp1aQKYnWPZvfHANYCX6ELjbDCzogDfkZoC37yyvCZWwfxEX3u9lCpAV2SO2Ida9xKX4nLpLq6MSqod19mnQVcTM50teyw9Lenj585_1v0rU1Anl8B68DGY6GQCdVKyJ6NKysQp79ENCFISZc10TEDG30Gi_WsP4Ub5RRHvbP-8jGqeINH33Oj5zKNzBuj-9vBXwe4gJrN-EdzhRxZ1g1HHTS6&amp;csui=3&amp;ved=2ahUKEwiY0OPH9cyTAxUa9LsIHZ4-GRcQgK4QegQIARAD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0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8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9342" y="-215007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9517" y="1028700"/>
            <a:ext cx="6310432" cy="7648937"/>
            <a:chOff x="0" y="0"/>
            <a:chExt cx="660400" cy="800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00477"/>
            </a:xfrm>
            <a:custGeom>
              <a:avLst/>
              <a:gdLst/>
              <a:ahLst/>
              <a:cxnLst/>
              <a:rect r="r" b="b" t="t" l="l"/>
              <a:pathLst>
                <a:path h="80047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228"/>
                  </a:cubicBezTo>
                  <a:lnTo>
                    <a:pt x="660400" y="800477"/>
                  </a:lnTo>
                  <a:lnTo>
                    <a:pt x="0" y="800477"/>
                  </a:lnTo>
                  <a:lnTo>
                    <a:pt x="0" y="32857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A4D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89342" y="2897886"/>
            <a:ext cx="6517890" cy="4965447"/>
          </a:xfrm>
          <a:custGeom>
            <a:avLst/>
            <a:gdLst/>
            <a:ahLst/>
            <a:cxnLst/>
            <a:rect r="r" b="b" t="t" l="l"/>
            <a:pathLst>
              <a:path h="4965447" w="6517890">
                <a:moveTo>
                  <a:pt x="0" y="0"/>
                </a:moveTo>
                <a:lnTo>
                  <a:pt x="6517890" y="0"/>
                </a:lnTo>
                <a:lnTo>
                  <a:pt x="6517890" y="4965447"/>
                </a:lnTo>
                <a:lnTo>
                  <a:pt x="0" y="4965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29931" y="4048043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74344">
            <a:off x="14186450" y="-1020110"/>
            <a:ext cx="4342658" cy="5467863"/>
          </a:xfrm>
          <a:custGeom>
            <a:avLst/>
            <a:gdLst/>
            <a:ahLst/>
            <a:cxnLst/>
            <a:rect r="r" b="b" t="t" l="l"/>
            <a:pathLst>
              <a:path h="5467863" w="4342658">
                <a:moveTo>
                  <a:pt x="0" y="0"/>
                </a:moveTo>
                <a:lnTo>
                  <a:pt x="4342658" y="0"/>
                </a:lnTo>
                <a:lnTo>
                  <a:pt x="4342658" y="5467864"/>
                </a:lnTo>
                <a:lnTo>
                  <a:pt x="0" y="5467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39517" y="8909000"/>
            <a:ext cx="41024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www.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reallygreatsite.com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7939930">
            <a:off x="-841179" y="8253544"/>
            <a:ext cx="3461041" cy="4357815"/>
          </a:xfrm>
          <a:custGeom>
            <a:avLst/>
            <a:gdLst/>
            <a:ahLst/>
            <a:cxnLst/>
            <a:rect r="r" b="b" t="t" l="l"/>
            <a:pathLst>
              <a:path h="4357815" w="3461041">
                <a:moveTo>
                  <a:pt x="0" y="0"/>
                </a:moveTo>
                <a:lnTo>
                  <a:pt x="3461041" y="0"/>
                </a:lnTo>
                <a:lnTo>
                  <a:pt x="3461041" y="4357814"/>
                </a:lnTo>
                <a:lnTo>
                  <a:pt x="0" y="4357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51781" y="743316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28286" y="8596174"/>
            <a:ext cx="929493" cy="1022578"/>
          </a:xfrm>
          <a:custGeom>
            <a:avLst/>
            <a:gdLst/>
            <a:ahLst/>
            <a:cxnLst/>
            <a:rect r="r" b="b" t="t" l="l"/>
            <a:pathLst>
              <a:path h="1022578" w="929493">
                <a:moveTo>
                  <a:pt x="0" y="0"/>
                </a:moveTo>
                <a:lnTo>
                  <a:pt x="929493" y="0"/>
                </a:lnTo>
                <a:lnTo>
                  <a:pt x="929493" y="1022578"/>
                </a:lnTo>
                <a:lnTo>
                  <a:pt x="0" y="1022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49769" y="4278411"/>
            <a:ext cx="6764504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Effective Smart Networking Strategies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49769" y="7280057"/>
            <a:ext cx="61452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</a:t>
            </a: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uild relationships with intention.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9769" y="1487127"/>
            <a:ext cx="43612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Ingoude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9769" y="3642278"/>
            <a:ext cx="43612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Netw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orking Presentation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49769" y="8909000"/>
            <a:ext cx="2195335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resented By: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17545" y="8909000"/>
            <a:ext cx="2195335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Av</a:t>
            </a:r>
            <a:r>
              <a:rPr lang="en-US" sz="20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ery Davis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2878" y="670425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9342" y="-215007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9517" y="1028700"/>
            <a:ext cx="6310432" cy="7648937"/>
            <a:chOff x="0" y="0"/>
            <a:chExt cx="660400" cy="800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00477"/>
            </a:xfrm>
            <a:custGeom>
              <a:avLst/>
              <a:gdLst/>
              <a:ahLst/>
              <a:cxnLst/>
              <a:rect r="r" b="b" t="t" l="l"/>
              <a:pathLst>
                <a:path h="80047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228"/>
                  </a:cubicBezTo>
                  <a:lnTo>
                    <a:pt x="660400" y="800477"/>
                  </a:lnTo>
                  <a:lnTo>
                    <a:pt x="0" y="800477"/>
                  </a:lnTo>
                  <a:lnTo>
                    <a:pt x="0" y="32857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A4D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89342" y="2897886"/>
            <a:ext cx="6517890" cy="4965447"/>
          </a:xfrm>
          <a:custGeom>
            <a:avLst/>
            <a:gdLst/>
            <a:ahLst/>
            <a:cxnLst/>
            <a:rect r="r" b="b" t="t" l="l"/>
            <a:pathLst>
              <a:path h="4965447" w="6517890">
                <a:moveTo>
                  <a:pt x="0" y="0"/>
                </a:moveTo>
                <a:lnTo>
                  <a:pt x="6517890" y="0"/>
                </a:lnTo>
                <a:lnTo>
                  <a:pt x="6517890" y="4965447"/>
                </a:lnTo>
                <a:lnTo>
                  <a:pt x="0" y="4965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29931" y="4048043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74344">
            <a:off x="14186450" y="-1020110"/>
            <a:ext cx="4342658" cy="5467863"/>
          </a:xfrm>
          <a:custGeom>
            <a:avLst/>
            <a:gdLst/>
            <a:ahLst/>
            <a:cxnLst/>
            <a:rect r="r" b="b" t="t" l="l"/>
            <a:pathLst>
              <a:path h="5467863" w="4342658">
                <a:moveTo>
                  <a:pt x="0" y="0"/>
                </a:moveTo>
                <a:lnTo>
                  <a:pt x="4342658" y="0"/>
                </a:lnTo>
                <a:lnTo>
                  <a:pt x="4342658" y="5467864"/>
                </a:lnTo>
                <a:lnTo>
                  <a:pt x="0" y="5467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39517" y="8909000"/>
            <a:ext cx="4102496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www.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reallygreatsite.com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7939930">
            <a:off x="-841179" y="8253544"/>
            <a:ext cx="3461041" cy="4357815"/>
          </a:xfrm>
          <a:custGeom>
            <a:avLst/>
            <a:gdLst/>
            <a:ahLst/>
            <a:cxnLst/>
            <a:rect r="r" b="b" t="t" l="l"/>
            <a:pathLst>
              <a:path h="4357815" w="3461041">
                <a:moveTo>
                  <a:pt x="0" y="0"/>
                </a:moveTo>
                <a:lnTo>
                  <a:pt x="3461041" y="0"/>
                </a:lnTo>
                <a:lnTo>
                  <a:pt x="3461041" y="4357814"/>
                </a:lnTo>
                <a:lnTo>
                  <a:pt x="0" y="4357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51781" y="743316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28286" y="8596174"/>
            <a:ext cx="929493" cy="1022578"/>
          </a:xfrm>
          <a:custGeom>
            <a:avLst/>
            <a:gdLst/>
            <a:ahLst/>
            <a:cxnLst/>
            <a:rect r="r" b="b" t="t" l="l"/>
            <a:pathLst>
              <a:path h="1022578" w="929493">
                <a:moveTo>
                  <a:pt x="0" y="0"/>
                </a:moveTo>
                <a:lnTo>
                  <a:pt x="929493" y="0"/>
                </a:lnTo>
                <a:lnTo>
                  <a:pt x="929493" y="1022578"/>
                </a:lnTo>
                <a:lnTo>
                  <a:pt x="0" y="1022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49769" y="4278411"/>
            <a:ext cx="676450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Datascience objective n °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49769" y="6468030"/>
            <a:ext cx="614526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5G Dataset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2878" y="670425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29533" y="316714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3232" y="8699585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08510" y="41876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0654" y="409011"/>
            <a:ext cx="14185736" cy="9468979"/>
          </a:xfrm>
          <a:custGeom>
            <a:avLst/>
            <a:gdLst/>
            <a:ahLst/>
            <a:cxnLst/>
            <a:rect r="r" b="b" t="t" l="l"/>
            <a:pathLst>
              <a:path h="9468979" w="14185736">
                <a:moveTo>
                  <a:pt x="0" y="0"/>
                </a:moveTo>
                <a:lnTo>
                  <a:pt x="14185736" y="0"/>
                </a:lnTo>
                <a:lnTo>
                  <a:pt x="14185736" y="9468978"/>
                </a:lnTo>
                <a:lnTo>
                  <a:pt x="0" y="9468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61827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20679" y="9413998"/>
            <a:ext cx="2103520" cy="534317"/>
          </a:xfrm>
          <a:custGeom>
            <a:avLst/>
            <a:gdLst/>
            <a:ahLst/>
            <a:cxnLst/>
            <a:rect r="r" b="b" t="t" l="l"/>
            <a:pathLst>
              <a:path h="534317" w="2103520">
                <a:moveTo>
                  <a:pt x="0" y="0"/>
                </a:moveTo>
                <a:lnTo>
                  <a:pt x="2103520" y="0"/>
                </a:lnTo>
                <a:lnTo>
                  <a:pt x="2103520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9342" y="-215007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2679" y="333384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7600" y="333384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3783" y="393739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22149" y="898918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004576">
            <a:off x="15902081" y="67496"/>
            <a:ext cx="2780866" cy="2654463"/>
          </a:xfrm>
          <a:custGeom>
            <a:avLst/>
            <a:gdLst/>
            <a:ahLst/>
            <a:cxnLst/>
            <a:rect r="r" b="b" t="t" l="l"/>
            <a:pathLst>
              <a:path h="2654463" w="2780866">
                <a:moveTo>
                  <a:pt x="0" y="0"/>
                </a:moveTo>
                <a:lnTo>
                  <a:pt x="2780866" y="0"/>
                </a:lnTo>
                <a:lnTo>
                  <a:pt x="2780866" y="2654463"/>
                </a:lnTo>
                <a:lnTo>
                  <a:pt x="0" y="2654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67575" y="1205642"/>
            <a:ext cx="8701883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Evaluation metrics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820121" y="2763030"/>
            <a:ext cx="5616477" cy="2380470"/>
            <a:chOff x="0" y="0"/>
            <a:chExt cx="7488636" cy="317396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570861" y="1105027"/>
              <a:ext cx="6917776" cy="2068933"/>
              <a:chOff x="0" y="0"/>
              <a:chExt cx="803808" cy="24039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03808" cy="240399"/>
              </a:xfrm>
              <a:custGeom>
                <a:avLst/>
                <a:gdLst/>
                <a:ahLst/>
                <a:cxnLst/>
                <a:rect r="r" b="b" t="t" l="l"/>
                <a:pathLst>
                  <a:path h="240399" w="803808">
                    <a:moveTo>
                      <a:pt x="52226" y="0"/>
                    </a:moveTo>
                    <a:lnTo>
                      <a:pt x="751582" y="0"/>
                    </a:lnTo>
                    <a:cubicBezTo>
                      <a:pt x="780426" y="0"/>
                      <a:pt x="803808" y="23382"/>
                      <a:pt x="803808" y="52226"/>
                    </a:cubicBezTo>
                    <a:lnTo>
                      <a:pt x="803808" y="188173"/>
                    </a:lnTo>
                    <a:cubicBezTo>
                      <a:pt x="803808" y="217016"/>
                      <a:pt x="780426" y="240399"/>
                      <a:pt x="751582" y="240399"/>
                    </a:cubicBezTo>
                    <a:lnTo>
                      <a:pt x="52226" y="240399"/>
                    </a:lnTo>
                    <a:cubicBezTo>
                      <a:pt x="23382" y="240399"/>
                      <a:pt x="0" y="217016"/>
                      <a:pt x="0" y="188173"/>
                    </a:cubicBezTo>
                    <a:lnTo>
                      <a:pt x="0" y="52226"/>
                    </a:lnTo>
                    <a:cubicBezTo>
                      <a:pt x="0" y="23382"/>
                      <a:pt x="23382" y="0"/>
                      <a:pt x="52226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-847388">
              <a:off x="115969" y="171472"/>
              <a:ext cx="1546955" cy="1142169"/>
            </a:xfrm>
            <a:custGeom>
              <a:avLst/>
              <a:gdLst/>
              <a:ahLst/>
              <a:cxnLst/>
              <a:rect r="r" b="b" t="t" l="l"/>
              <a:pathLst>
                <a:path h="1142169" w="1546955">
                  <a:moveTo>
                    <a:pt x="0" y="0"/>
                  </a:moveTo>
                  <a:lnTo>
                    <a:pt x="1546955" y="0"/>
                  </a:lnTo>
                  <a:lnTo>
                    <a:pt x="1546955" y="1142168"/>
                  </a:lnTo>
                  <a:lnTo>
                    <a:pt x="0" y="1142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15839" y="1349269"/>
              <a:ext cx="1326107" cy="1628033"/>
            </a:xfrm>
            <a:custGeom>
              <a:avLst/>
              <a:gdLst/>
              <a:ahLst/>
              <a:cxnLst/>
              <a:rect r="r" b="b" t="t" l="l"/>
              <a:pathLst>
                <a:path h="1628033" w="1326107">
                  <a:moveTo>
                    <a:pt x="0" y="0"/>
                  </a:moveTo>
                  <a:lnTo>
                    <a:pt x="1326108" y="0"/>
                  </a:lnTo>
                  <a:lnTo>
                    <a:pt x="1326108" y="1628033"/>
                  </a:lnTo>
                  <a:lnTo>
                    <a:pt x="0" y="1628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902974" y="1661126"/>
              <a:ext cx="3159438" cy="88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Log loss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20202" y="5367322"/>
            <a:ext cx="5188332" cy="1543050"/>
            <a:chOff x="0" y="0"/>
            <a:chExt cx="6917776" cy="20574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917776" cy="2057400"/>
              <a:chOff x="0" y="0"/>
              <a:chExt cx="1366474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664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366474">
                    <a:moveTo>
                      <a:pt x="76101" y="0"/>
                    </a:moveTo>
                    <a:lnTo>
                      <a:pt x="1290373" y="0"/>
                    </a:lnTo>
                    <a:cubicBezTo>
                      <a:pt x="1332402" y="0"/>
                      <a:pt x="1366474" y="34072"/>
                      <a:pt x="1366474" y="76101"/>
                    </a:cubicBezTo>
                    <a:lnTo>
                      <a:pt x="1366474" y="330299"/>
                    </a:lnTo>
                    <a:cubicBezTo>
                      <a:pt x="1366474" y="350482"/>
                      <a:pt x="1358456" y="369839"/>
                      <a:pt x="1344185" y="384110"/>
                    </a:cubicBezTo>
                    <a:cubicBezTo>
                      <a:pt x="1329913" y="398382"/>
                      <a:pt x="1310556" y="406400"/>
                      <a:pt x="1290373" y="406400"/>
                    </a:cubicBezTo>
                    <a:lnTo>
                      <a:pt x="76101" y="406400"/>
                    </a:lnTo>
                    <a:cubicBezTo>
                      <a:pt x="34072" y="406400"/>
                      <a:pt x="0" y="372328"/>
                      <a:pt x="0" y="330299"/>
                    </a:cubicBezTo>
                    <a:lnTo>
                      <a:pt x="0" y="76101"/>
                    </a:lnTo>
                    <a:cubicBezTo>
                      <a:pt x="0" y="34072"/>
                      <a:pt x="34072" y="0"/>
                      <a:pt x="76101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366474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0" y="1143433"/>
              <a:ext cx="2636442" cy="913967"/>
            </a:xfrm>
            <a:custGeom>
              <a:avLst/>
              <a:gdLst/>
              <a:ahLst/>
              <a:cxnLst/>
              <a:rect r="r" b="b" t="t" l="l"/>
              <a:pathLst>
                <a:path h="913967" w="2636442">
                  <a:moveTo>
                    <a:pt x="0" y="0"/>
                  </a:moveTo>
                  <a:lnTo>
                    <a:pt x="2636442" y="0"/>
                  </a:lnTo>
                  <a:lnTo>
                    <a:pt x="2636442" y="913967"/>
                  </a:lnTo>
                  <a:lnTo>
                    <a:pt x="0" y="913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041629" y="665066"/>
              <a:ext cx="4190910" cy="88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AUC - ROC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52787" y="7324874"/>
            <a:ext cx="4149190" cy="1240918"/>
            <a:chOff x="0" y="0"/>
            <a:chExt cx="5532253" cy="165455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532253" cy="1654558"/>
              <a:chOff x="0" y="0"/>
              <a:chExt cx="803808" cy="24039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03808" cy="240399"/>
              </a:xfrm>
              <a:custGeom>
                <a:avLst/>
                <a:gdLst/>
                <a:ahLst/>
                <a:cxnLst/>
                <a:rect r="r" b="b" t="t" l="l"/>
                <a:pathLst>
                  <a:path h="240399" w="803808">
                    <a:moveTo>
                      <a:pt x="52226" y="0"/>
                    </a:moveTo>
                    <a:lnTo>
                      <a:pt x="751582" y="0"/>
                    </a:lnTo>
                    <a:cubicBezTo>
                      <a:pt x="780426" y="0"/>
                      <a:pt x="803808" y="23382"/>
                      <a:pt x="803808" y="52226"/>
                    </a:cubicBezTo>
                    <a:lnTo>
                      <a:pt x="803808" y="188173"/>
                    </a:lnTo>
                    <a:cubicBezTo>
                      <a:pt x="803808" y="217016"/>
                      <a:pt x="780426" y="240399"/>
                      <a:pt x="751582" y="240399"/>
                    </a:cubicBezTo>
                    <a:lnTo>
                      <a:pt x="52226" y="240399"/>
                    </a:lnTo>
                    <a:cubicBezTo>
                      <a:pt x="23382" y="240399"/>
                      <a:pt x="0" y="217016"/>
                      <a:pt x="0" y="188173"/>
                    </a:cubicBezTo>
                    <a:lnTo>
                      <a:pt x="0" y="52226"/>
                    </a:lnTo>
                    <a:cubicBezTo>
                      <a:pt x="0" y="23382"/>
                      <a:pt x="23382" y="0"/>
                      <a:pt x="52226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02801" y="448509"/>
              <a:ext cx="2825269" cy="700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8"/>
                </a:lnSpc>
              </a:pPr>
              <a:r>
                <a:rPr lang="en-US" sz="3198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Accuracy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322149" y="7210075"/>
            <a:ext cx="1551571" cy="1355717"/>
          </a:xfrm>
          <a:custGeom>
            <a:avLst/>
            <a:gdLst/>
            <a:ahLst/>
            <a:cxnLst/>
            <a:rect r="r" b="b" t="t" l="l"/>
            <a:pathLst>
              <a:path h="1355717" w="1551571">
                <a:moveTo>
                  <a:pt x="0" y="0"/>
                </a:moveTo>
                <a:lnTo>
                  <a:pt x="1551571" y="0"/>
                </a:lnTo>
                <a:lnTo>
                  <a:pt x="1551571" y="1355717"/>
                </a:lnTo>
                <a:lnTo>
                  <a:pt x="0" y="13557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56945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2679" y="333384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7600" y="333384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3783" y="393739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22149" y="898918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004576">
            <a:off x="15902081" y="67496"/>
            <a:ext cx="2780866" cy="2654463"/>
          </a:xfrm>
          <a:custGeom>
            <a:avLst/>
            <a:gdLst/>
            <a:ahLst/>
            <a:cxnLst/>
            <a:rect r="r" b="b" t="t" l="l"/>
            <a:pathLst>
              <a:path h="2654463" w="2780866">
                <a:moveTo>
                  <a:pt x="0" y="0"/>
                </a:moveTo>
                <a:lnTo>
                  <a:pt x="2780866" y="0"/>
                </a:lnTo>
                <a:lnTo>
                  <a:pt x="2780866" y="2654463"/>
                </a:lnTo>
                <a:lnTo>
                  <a:pt x="0" y="2654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6945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77966" y="1356628"/>
            <a:ext cx="6932068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5G dataset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26123" y="3653660"/>
            <a:ext cx="5193401" cy="4405504"/>
            <a:chOff x="0" y="0"/>
            <a:chExt cx="6924535" cy="58740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24535" cy="1687069"/>
            </a:xfrm>
            <a:custGeom>
              <a:avLst/>
              <a:gdLst/>
              <a:ahLst/>
              <a:cxnLst/>
              <a:rect r="r" b="b" t="t" l="l"/>
              <a:pathLst>
                <a:path h="1687069" w="6924535">
                  <a:moveTo>
                    <a:pt x="0" y="0"/>
                  </a:moveTo>
                  <a:lnTo>
                    <a:pt x="6924535" y="0"/>
                  </a:lnTo>
                  <a:lnTo>
                    <a:pt x="6924535" y="1687069"/>
                  </a:lnTo>
                  <a:lnTo>
                    <a:pt x="0" y="1687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236617" y="434382"/>
              <a:ext cx="3495675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Size = 8.958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093469"/>
              <a:ext cx="6924535" cy="1687069"/>
            </a:xfrm>
            <a:custGeom>
              <a:avLst/>
              <a:gdLst/>
              <a:ahLst/>
              <a:cxnLst/>
              <a:rect r="r" b="b" t="t" l="l"/>
              <a:pathLst>
                <a:path h="1687069" w="6924535">
                  <a:moveTo>
                    <a:pt x="0" y="0"/>
                  </a:moveTo>
                  <a:lnTo>
                    <a:pt x="6924535" y="0"/>
                  </a:lnTo>
                  <a:lnTo>
                    <a:pt x="6924535" y="1687068"/>
                  </a:lnTo>
                  <a:lnTo>
                    <a:pt x="0" y="168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755309" y="2527851"/>
              <a:ext cx="5413916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No missing values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186937"/>
              <a:ext cx="6924535" cy="1687069"/>
            </a:xfrm>
            <a:custGeom>
              <a:avLst/>
              <a:gdLst/>
              <a:ahLst/>
              <a:cxnLst/>
              <a:rect r="r" b="b" t="t" l="l"/>
              <a:pathLst>
                <a:path h="1687069" w="6924535">
                  <a:moveTo>
                    <a:pt x="0" y="0"/>
                  </a:moveTo>
                  <a:lnTo>
                    <a:pt x="6924535" y="0"/>
                  </a:lnTo>
                  <a:lnTo>
                    <a:pt x="6924535" y="1687069"/>
                  </a:lnTo>
                  <a:lnTo>
                    <a:pt x="0" y="1687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755309" y="4621319"/>
              <a:ext cx="5413916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16 feature + 1 target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84518" y="3653660"/>
            <a:ext cx="5193401" cy="4405504"/>
            <a:chOff x="0" y="0"/>
            <a:chExt cx="6924535" cy="5874006"/>
          </a:xfrm>
        </p:grpSpPr>
        <p:sp>
          <p:nvSpPr>
            <p:cNvPr name="Freeform 19" id="19"/>
            <p:cNvSpPr/>
            <p:nvPr/>
          </p:nvSpPr>
          <p:spPr>
            <a:xfrm flipH="true" flipV="false" rot="0">
              <a:off x="0" y="0"/>
              <a:ext cx="6924535" cy="1687069"/>
            </a:xfrm>
            <a:custGeom>
              <a:avLst/>
              <a:gdLst/>
              <a:ahLst/>
              <a:cxnLst/>
              <a:rect r="r" b="b" t="t" l="l"/>
              <a:pathLst>
                <a:path h="1687069" w="6924535">
                  <a:moveTo>
                    <a:pt x="6924535" y="0"/>
                  </a:moveTo>
                  <a:lnTo>
                    <a:pt x="0" y="0"/>
                  </a:lnTo>
                  <a:lnTo>
                    <a:pt x="0" y="1687069"/>
                  </a:lnTo>
                  <a:lnTo>
                    <a:pt x="6924535" y="1687069"/>
                  </a:lnTo>
                  <a:lnTo>
                    <a:pt x="692453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248256" y="434382"/>
              <a:ext cx="3889716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3 slice types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true" flipV="false" rot="0">
              <a:off x="0" y="2093469"/>
              <a:ext cx="6924535" cy="1687069"/>
            </a:xfrm>
            <a:custGeom>
              <a:avLst/>
              <a:gdLst/>
              <a:ahLst/>
              <a:cxnLst/>
              <a:rect r="r" b="b" t="t" l="l"/>
              <a:pathLst>
                <a:path h="1687069" w="6924535">
                  <a:moveTo>
                    <a:pt x="6924535" y="0"/>
                  </a:moveTo>
                  <a:lnTo>
                    <a:pt x="0" y="0"/>
                  </a:lnTo>
                  <a:lnTo>
                    <a:pt x="0" y="1687068"/>
                  </a:lnTo>
                  <a:lnTo>
                    <a:pt x="6924535" y="1687068"/>
                  </a:lnTo>
                  <a:lnTo>
                    <a:pt x="692453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74317" y="2527851"/>
              <a:ext cx="4479654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high correlation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true" flipV="false" rot="0">
              <a:off x="0" y="4186937"/>
              <a:ext cx="6924535" cy="1687069"/>
            </a:xfrm>
            <a:custGeom>
              <a:avLst/>
              <a:gdLst/>
              <a:ahLst/>
              <a:cxnLst/>
              <a:rect r="r" b="b" t="t" l="l"/>
              <a:pathLst>
                <a:path h="1687069" w="6924535">
                  <a:moveTo>
                    <a:pt x="6924535" y="0"/>
                  </a:moveTo>
                  <a:lnTo>
                    <a:pt x="0" y="0"/>
                  </a:lnTo>
                  <a:lnTo>
                    <a:pt x="0" y="1687069"/>
                  </a:lnTo>
                  <a:lnTo>
                    <a:pt x="6924535" y="1687069"/>
                  </a:lnTo>
                  <a:lnTo>
                    <a:pt x="692453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986465" y="4221269"/>
              <a:ext cx="5702095" cy="15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features bigger than others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2679" y="333384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7600" y="333384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02373" y="752956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2334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1" y="0"/>
                </a:lnTo>
                <a:lnTo>
                  <a:pt x="55580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47893" y="990600"/>
            <a:ext cx="7021565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Chosen models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421410" y="2649350"/>
            <a:ext cx="14135180" cy="5238584"/>
            <a:chOff x="0" y="0"/>
            <a:chExt cx="18846907" cy="6984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3089821" y="2807141"/>
              <a:ext cx="1258146" cy="1258146"/>
            </a:xfrm>
            <a:custGeom>
              <a:avLst/>
              <a:gdLst/>
              <a:ahLst/>
              <a:cxnLst/>
              <a:rect r="r" b="b" t="t" l="l"/>
              <a:pathLst>
                <a:path h="1258146" w="1258146">
                  <a:moveTo>
                    <a:pt x="0" y="0"/>
                  </a:moveTo>
                  <a:lnTo>
                    <a:pt x="1258145" y="0"/>
                  </a:lnTo>
                  <a:lnTo>
                    <a:pt x="1258145" y="1258146"/>
                  </a:lnTo>
                  <a:lnTo>
                    <a:pt x="0" y="125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5071866" y="1048647"/>
              <a:ext cx="3758203" cy="1724252"/>
              <a:chOff x="0" y="0"/>
              <a:chExt cx="436683" cy="20034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071866" y="3090020"/>
              <a:ext cx="3758203" cy="2405198"/>
              <a:chOff x="0" y="0"/>
              <a:chExt cx="436683" cy="27947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36683" cy="279471"/>
              </a:xfrm>
              <a:custGeom>
                <a:avLst/>
                <a:gdLst/>
                <a:ahLst/>
                <a:cxnLst/>
                <a:rect r="r" b="b" t="t" l="l"/>
                <a:pathLst>
                  <a:path h="27947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83337"/>
                    </a:lnTo>
                    <a:cubicBezTo>
                      <a:pt x="436683" y="236431"/>
                      <a:pt x="393643" y="279471"/>
                      <a:pt x="340549" y="279471"/>
                    </a:cubicBezTo>
                    <a:lnTo>
                      <a:pt x="96134" y="279471"/>
                    </a:lnTo>
                    <a:cubicBezTo>
                      <a:pt x="43040" y="279471"/>
                      <a:pt x="0" y="236431"/>
                      <a:pt x="0" y="183337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12518321" cy="6984779"/>
              <a:chOff x="0" y="0"/>
              <a:chExt cx="1454562" cy="81159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54562" cy="811594"/>
              </a:xfrm>
              <a:custGeom>
                <a:avLst/>
                <a:gdLst/>
                <a:ahLst/>
                <a:cxnLst/>
                <a:rect r="r" b="b" t="t" l="l"/>
                <a:pathLst>
                  <a:path h="811594" w="1454562">
                    <a:moveTo>
                      <a:pt x="28861" y="0"/>
                    </a:moveTo>
                    <a:lnTo>
                      <a:pt x="1425701" y="0"/>
                    </a:lnTo>
                    <a:cubicBezTo>
                      <a:pt x="1441640" y="0"/>
                      <a:pt x="1454562" y="12921"/>
                      <a:pt x="1454562" y="28861"/>
                    </a:cubicBezTo>
                    <a:lnTo>
                      <a:pt x="1454562" y="782733"/>
                    </a:lnTo>
                    <a:cubicBezTo>
                      <a:pt x="1454562" y="798672"/>
                      <a:pt x="1441640" y="811594"/>
                      <a:pt x="1425701" y="811594"/>
                    </a:cubicBezTo>
                    <a:lnTo>
                      <a:pt x="28861" y="811594"/>
                    </a:lnTo>
                    <a:cubicBezTo>
                      <a:pt x="12921" y="811594"/>
                      <a:pt x="0" y="798672"/>
                      <a:pt x="0" y="782733"/>
                    </a:cubicBezTo>
                    <a:lnTo>
                      <a:pt x="0" y="28861"/>
                    </a:lnTo>
                    <a:cubicBezTo>
                      <a:pt x="0" y="12921"/>
                      <a:pt x="12921" y="0"/>
                      <a:pt x="28861" y="0"/>
                    </a:cubicBezTo>
                    <a:close/>
                  </a:path>
                </a:pathLst>
              </a:custGeom>
              <a:solidFill>
                <a:srgbClr val="FFF8ED"/>
              </a:solidFill>
              <a:ln w="38100" cap="rnd">
                <a:solidFill>
                  <a:srgbClr val="00BF63"/>
                </a:solidFill>
                <a:prstDash val="solid"/>
                <a:round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13642" y="394266"/>
              <a:ext cx="3758203" cy="1724252"/>
              <a:chOff x="0" y="0"/>
              <a:chExt cx="436683" cy="20034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5F9345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8109526" y="2337784"/>
              <a:ext cx="3758203" cy="4128601"/>
              <a:chOff x="0" y="0"/>
              <a:chExt cx="436683" cy="47972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36683" cy="479721"/>
              </a:xfrm>
              <a:custGeom>
                <a:avLst/>
                <a:gdLst/>
                <a:ahLst/>
                <a:cxnLst/>
                <a:rect r="r" b="b" t="t" l="l"/>
                <a:pathLst>
                  <a:path h="47972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383588"/>
                    </a:lnTo>
                    <a:cubicBezTo>
                      <a:pt x="436683" y="436681"/>
                      <a:pt x="393643" y="479721"/>
                      <a:pt x="340549" y="479721"/>
                    </a:cubicBezTo>
                    <a:lnTo>
                      <a:pt x="96134" y="479721"/>
                    </a:lnTo>
                    <a:cubicBezTo>
                      <a:pt x="43040" y="479721"/>
                      <a:pt x="0" y="436681"/>
                      <a:pt x="0" y="383588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4208658" y="394266"/>
              <a:ext cx="3758203" cy="1724252"/>
              <a:chOff x="0" y="0"/>
              <a:chExt cx="436683" cy="20034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5F9345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103674" y="394266"/>
              <a:ext cx="3758203" cy="1724252"/>
              <a:chOff x="0" y="0"/>
              <a:chExt cx="436683" cy="20034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5F9345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211623" y="2320869"/>
              <a:ext cx="3758203" cy="4128601"/>
              <a:chOff x="0" y="0"/>
              <a:chExt cx="436683" cy="47972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36683" cy="479721"/>
              </a:xfrm>
              <a:custGeom>
                <a:avLst/>
                <a:gdLst/>
                <a:ahLst/>
                <a:cxnLst/>
                <a:rect r="r" b="b" t="t" l="l"/>
                <a:pathLst>
                  <a:path h="47972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383588"/>
                    </a:lnTo>
                    <a:cubicBezTo>
                      <a:pt x="436683" y="436681"/>
                      <a:pt x="393643" y="479721"/>
                      <a:pt x="340549" y="479721"/>
                    </a:cubicBezTo>
                    <a:lnTo>
                      <a:pt x="96134" y="479721"/>
                    </a:lnTo>
                    <a:cubicBezTo>
                      <a:pt x="43040" y="479721"/>
                      <a:pt x="0" y="436681"/>
                      <a:pt x="0" y="383588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19571" y="2320869"/>
              <a:ext cx="3758203" cy="4128601"/>
              <a:chOff x="0" y="0"/>
              <a:chExt cx="436683" cy="47972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36683" cy="479721"/>
              </a:xfrm>
              <a:custGeom>
                <a:avLst/>
                <a:gdLst/>
                <a:ahLst/>
                <a:cxnLst/>
                <a:rect r="r" b="b" t="t" l="l"/>
                <a:pathLst>
                  <a:path h="47972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383588"/>
                    </a:lnTo>
                    <a:cubicBezTo>
                      <a:pt x="436683" y="436681"/>
                      <a:pt x="393643" y="479721"/>
                      <a:pt x="340549" y="479721"/>
                    </a:cubicBezTo>
                    <a:lnTo>
                      <a:pt x="96134" y="479721"/>
                    </a:lnTo>
                    <a:cubicBezTo>
                      <a:pt x="43040" y="479721"/>
                      <a:pt x="0" y="436681"/>
                      <a:pt x="0" y="383588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618954" y="809563"/>
              <a:ext cx="3159438" cy="795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XGBoost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398661" y="471962"/>
              <a:ext cx="3159438" cy="1646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Random forest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511006" y="809563"/>
              <a:ext cx="3159438" cy="795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LightGBM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18954" y="2740466"/>
              <a:ext cx="3159438" cy="15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Sequential trees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513931" y="2740466"/>
              <a:ext cx="3159438" cy="3151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faster and more memory efficient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8248970" y="2740466"/>
              <a:ext cx="3458820" cy="15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Independant trees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5339203" y="1479608"/>
              <a:ext cx="3159438" cy="795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MLP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5388086" y="3375684"/>
              <a:ext cx="3458820" cy="15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Multilayer Perceptron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16209" y="8224788"/>
            <a:ext cx="6198374" cy="1280680"/>
            <a:chOff x="0" y="0"/>
            <a:chExt cx="960290" cy="1984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0290" cy="198411"/>
            </a:xfrm>
            <a:custGeom>
              <a:avLst/>
              <a:gdLst/>
              <a:ahLst/>
              <a:cxnLst/>
              <a:rect r="r" b="b" t="t" l="l"/>
              <a:pathLst>
                <a:path h="198411" w="960290">
                  <a:moveTo>
                    <a:pt x="43716" y="0"/>
                  </a:moveTo>
                  <a:lnTo>
                    <a:pt x="916575" y="0"/>
                  </a:lnTo>
                  <a:cubicBezTo>
                    <a:pt x="928169" y="0"/>
                    <a:pt x="939288" y="4606"/>
                    <a:pt x="947486" y="12804"/>
                  </a:cubicBezTo>
                  <a:cubicBezTo>
                    <a:pt x="955685" y="21002"/>
                    <a:pt x="960290" y="32122"/>
                    <a:pt x="960290" y="43716"/>
                  </a:cubicBezTo>
                  <a:lnTo>
                    <a:pt x="960290" y="154695"/>
                  </a:lnTo>
                  <a:cubicBezTo>
                    <a:pt x="960290" y="166289"/>
                    <a:pt x="955685" y="177408"/>
                    <a:pt x="947486" y="185607"/>
                  </a:cubicBezTo>
                  <a:cubicBezTo>
                    <a:pt x="939288" y="193805"/>
                    <a:pt x="928169" y="198411"/>
                    <a:pt x="916575" y="198411"/>
                  </a:cubicBezTo>
                  <a:lnTo>
                    <a:pt x="43716" y="198411"/>
                  </a:lnTo>
                  <a:cubicBezTo>
                    <a:pt x="19572" y="198411"/>
                    <a:pt x="0" y="178839"/>
                    <a:pt x="0" y="154695"/>
                  </a:cubicBezTo>
                  <a:lnTo>
                    <a:pt x="0" y="43716"/>
                  </a:lnTo>
                  <a:cubicBezTo>
                    <a:pt x="0" y="19572"/>
                    <a:pt x="19572" y="0"/>
                    <a:pt x="43716" y="0"/>
                  </a:cubicBezTo>
                  <a:close/>
                </a:path>
              </a:pathLst>
            </a:custGeom>
            <a:solidFill>
              <a:srgbClr val="FFF8ED"/>
            </a:solidFill>
            <a:ln w="38100" cap="rnd">
              <a:solidFill>
                <a:srgbClr val="FF3131"/>
              </a:solidFill>
              <a:prstDash val="solid"/>
              <a:round/>
            </a:ln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7231675" y="8269281"/>
            <a:ext cx="1227196" cy="1236187"/>
          </a:xfrm>
          <a:custGeom>
            <a:avLst/>
            <a:gdLst/>
            <a:ahLst/>
            <a:cxnLst/>
            <a:rect r="r" b="b" t="t" l="l"/>
            <a:pathLst>
              <a:path h="1236187" w="1227196">
                <a:moveTo>
                  <a:pt x="0" y="0"/>
                </a:moveTo>
                <a:lnTo>
                  <a:pt x="1227197" y="0"/>
                </a:lnTo>
                <a:lnTo>
                  <a:pt x="1227197" y="1236187"/>
                </a:lnTo>
                <a:lnTo>
                  <a:pt x="0" y="12361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669230" y="8525085"/>
            <a:ext cx="4879315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EA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Logistic Regression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268474" y="788793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2679" y="333384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71802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22149" y="898918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9906" y="145101"/>
            <a:ext cx="13298292" cy="9957096"/>
          </a:xfrm>
          <a:custGeom>
            <a:avLst/>
            <a:gdLst/>
            <a:ahLst/>
            <a:cxnLst/>
            <a:rect r="r" b="b" t="t" l="l"/>
            <a:pathLst>
              <a:path h="9957096" w="13298292">
                <a:moveTo>
                  <a:pt x="0" y="0"/>
                </a:moveTo>
                <a:lnTo>
                  <a:pt x="13298293" y="0"/>
                </a:lnTo>
                <a:lnTo>
                  <a:pt x="13298293" y="9957096"/>
                </a:lnTo>
                <a:lnTo>
                  <a:pt x="0" y="9957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06597" y="53791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6945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2310525" y="1670657"/>
            <a:ext cx="2518763" cy="1470042"/>
          </a:xfrm>
          <a:custGeom>
            <a:avLst/>
            <a:gdLst/>
            <a:ahLst/>
            <a:cxnLst/>
            <a:rect r="r" b="b" t="t" l="l"/>
            <a:pathLst>
              <a:path h="1470042" w="2518763">
                <a:moveTo>
                  <a:pt x="2518763" y="0"/>
                </a:moveTo>
                <a:lnTo>
                  <a:pt x="0" y="0"/>
                </a:lnTo>
                <a:lnTo>
                  <a:pt x="0" y="1470042"/>
                </a:lnTo>
                <a:lnTo>
                  <a:pt x="2518763" y="1470042"/>
                </a:lnTo>
                <a:lnTo>
                  <a:pt x="251876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20919" y="2694589"/>
            <a:ext cx="446110" cy="446110"/>
          </a:xfrm>
          <a:custGeom>
            <a:avLst/>
            <a:gdLst/>
            <a:ahLst/>
            <a:cxnLst/>
            <a:rect r="r" b="b" t="t" l="l"/>
            <a:pathLst>
              <a:path h="446110" w="446110">
                <a:moveTo>
                  <a:pt x="0" y="0"/>
                </a:moveTo>
                <a:lnTo>
                  <a:pt x="446110" y="0"/>
                </a:lnTo>
                <a:lnTo>
                  <a:pt x="446110" y="446110"/>
                </a:lnTo>
                <a:lnTo>
                  <a:pt x="0" y="446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9751" y="3276694"/>
            <a:ext cx="3089389" cy="101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5F93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Selecting only clean features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2679" y="333384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20919" y="2430508"/>
            <a:ext cx="9641760" cy="6827792"/>
            <a:chOff x="0" y="0"/>
            <a:chExt cx="705227" cy="499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5227" cy="499405"/>
            </a:xfrm>
            <a:custGeom>
              <a:avLst/>
              <a:gdLst/>
              <a:ahLst/>
              <a:cxnLst/>
              <a:rect r="r" b="b" t="t" l="l"/>
              <a:pathLst>
                <a:path h="499405" w="705227">
                  <a:moveTo>
                    <a:pt x="28103" y="0"/>
                  </a:moveTo>
                  <a:lnTo>
                    <a:pt x="677124" y="0"/>
                  </a:lnTo>
                  <a:cubicBezTo>
                    <a:pt x="692645" y="0"/>
                    <a:pt x="705227" y="12582"/>
                    <a:pt x="705227" y="28103"/>
                  </a:cubicBezTo>
                  <a:lnTo>
                    <a:pt x="705227" y="471302"/>
                  </a:lnTo>
                  <a:cubicBezTo>
                    <a:pt x="705227" y="486823"/>
                    <a:pt x="692645" y="499405"/>
                    <a:pt x="677124" y="499405"/>
                  </a:cubicBezTo>
                  <a:lnTo>
                    <a:pt x="28103" y="499405"/>
                  </a:lnTo>
                  <a:cubicBezTo>
                    <a:pt x="20650" y="499405"/>
                    <a:pt x="13502" y="496444"/>
                    <a:pt x="8231" y="491174"/>
                  </a:cubicBezTo>
                  <a:cubicBezTo>
                    <a:pt x="2961" y="485903"/>
                    <a:pt x="0" y="478755"/>
                    <a:pt x="0" y="471302"/>
                  </a:cubicBezTo>
                  <a:lnTo>
                    <a:pt x="0" y="28103"/>
                  </a:lnTo>
                  <a:cubicBezTo>
                    <a:pt x="0" y="12582"/>
                    <a:pt x="12582" y="0"/>
                    <a:pt x="28103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71802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22149" y="898918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06597" y="53791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6945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42500" y="2775025"/>
            <a:ext cx="8998598" cy="4169191"/>
          </a:xfrm>
          <a:custGeom>
            <a:avLst/>
            <a:gdLst/>
            <a:ahLst/>
            <a:cxnLst/>
            <a:rect r="r" b="b" t="t" l="l"/>
            <a:pathLst>
              <a:path h="4169191" w="8998598">
                <a:moveTo>
                  <a:pt x="0" y="0"/>
                </a:moveTo>
                <a:lnTo>
                  <a:pt x="8998598" y="0"/>
                </a:lnTo>
                <a:lnTo>
                  <a:pt x="8998598" y="4169192"/>
                </a:lnTo>
                <a:lnTo>
                  <a:pt x="0" y="4169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2582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503258" y="7090657"/>
            <a:ext cx="608935" cy="608935"/>
          </a:xfrm>
          <a:custGeom>
            <a:avLst/>
            <a:gdLst/>
            <a:ahLst/>
            <a:cxnLst/>
            <a:rect r="r" b="b" t="t" l="l"/>
            <a:pathLst>
              <a:path h="608935" w="608935">
                <a:moveTo>
                  <a:pt x="0" y="0"/>
                </a:moveTo>
                <a:lnTo>
                  <a:pt x="608935" y="0"/>
                </a:lnTo>
                <a:lnTo>
                  <a:pt x="608935" y="608935"/>
                </a:lnTo>
                <a:lnTo>
                  <a:pt x="0" y="608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61989" y="7208806"/>
            <a:ext cx="4779110" cy="1651604"/>
          </a:xfrm>
          <a:custGeom>
            <a:avLst/>
            <a:gdLst/>
            <a:ahLst/>
            <a:cxnLst/>
            <a:rect r="r" b="b" t="t" l="l"/>
            <a:pathLst>
              <a:path h="1651604" w="4779110">
                <a:moveTo>
                  <a:pt x="0" y="0"/>
                </a:moveTo>
                <a:lnTo>
                  <a:pt x="4779109" y="0"/>
                </a:lnTo>
                <a:lnTo>
                  <a:pt x="4779109" y="1651605"/>
                </a:lnTo>
                <a:lnTo>
                  <a:pt x="0" y="16516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886529" y="2430508"/>
            <a:ext cx="5822442" cy="6827792"/>
          </a:xfrm>
          <a:custGeom>
            <a:avLst/>
            <a:gdLst/>
            <a:ahLst/>
            <a:cxnLst/>
            <a:rect r="r" b="b" t="t" l="l"/>
            <a:pathLst>
              <a:path h="6827792" w="5822442">
                <a:moveTo>
                  <a:pt x="0" y="0"/>
                </a:moveTo>
                <a:lnTo>
                  <a:pt x="5822442" y="0"/>
                </a:lnTo>
                <a:lnTo>
                  <a:pt x="5822442" y="6827792"/>
                </a:lnTo>
                <a:lnTo>
                  <a:pt x="0" y="68277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2053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41098" y="7919550"/>
            <a:ext cx="2052999" cy="205300"/>
          </a:xfrm>
          <a:custGeom>
            <a:avLst/>
            <a:gdLst/>
            <a:ahLst/>
            <a:cxnLst/>
            <a:rect r="r" b="b" t="t" l="l"/>
            <a:pathLst>
              <a:path h="205300" w="2052999">
                <a:moveTo>
                  <a:pt x="0" y="0"/>
                </a:moveTo>
                <a:lnTo>
                  <a:pt x="2052999" y="0"/>
                </a:lnTo>
                <a:lnTo>
                  <a:pt x="2052999" y="205300"/>
                </a:lnTo>
                <a:lnTo>
                  <a:pt x="0" y="205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23974" y="714856"/>
            <a:ext cx="8701883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Feature engineering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93294" y="7760592"/>
            <a:ext cx="3268694" cy="109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9D5E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random forest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18579" y="3276694"/>
            <a:ext cx="3329904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delay_x_loss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18579" y="4079982"/>
            <a:ext cx="4126502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delay_per_loss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18579" y="4884526"/>
            <a:ext cx="4126502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category_delay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8579" y="5689070"/>
            <a:ext cx="4126502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log_packet_loss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18579" y="6493614"/>
            <a:ext cx="4126502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log_packet-delay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32798" y="7737112"/>
            <a:ext cx="4126502" cy="109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9D5E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delay_bin (4 zones)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71802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02373" y="4137132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57373" y="367483"/>
            <a:ext cx="3030627" cy="3360574"/>
          </a:xfrm>
          <a:custGeom>
            <a:avLst/>
            <a:gdLst/>
            <a:ahLst/>
            <a:cxnLst/>
            <a:rect r="r" b="b" t="t" l="l"/>
            <a:pathLst>
              <a:path h="3360574" w="3030627">
                <a:moveTo>
                  <a:pt x="0" y="0"/>
                </a:moveTo>
                <a:lnTo>
                  <a:pt x="3030627" y="0"/>
                </a:lnTo>
                <a:lnTo>
                  <a:pt x="3030627" y="3360574"/>
                </a:lnTo>
                <a:lnTo>
                  <a:pt x="0" y="33605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9819" y="1648040"/>
            <a:ext cx="11747896" cy="7831931"/>
          </a:xfrm>
          <a:custGeom>
            <a:avLst/>
            <a:gdLst/>
            <a:ahLst/>
            <a:cxnLst/>
            <a:rect r="r" b="b" t="t" l="l"/>
            <a:pathLst>
              <a:path h="7831931" w="11747896">
                <a:moveTo>
                  <a:pt x="0" y="0"/>
                </a:moveTo>
                <a:lnTo>
                  <a:pt x="11747896" y="0"/>
                </a:lnTo>
                <a:lnTo>
                  <a:pt x="11747896" y="7831930"/>
                </a:lnTo>
                <a:lnTo>
                  <a:pt x="0" y="7831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68258" y="7687522"/>
            <a:ext cx="4876242" cy="1570778"/>
          </a:xfrm>
          <a:custGeom>
            <a:avLst/>
            <a:gdLst/>
            <a:ahLst/>
            <a:cxnLst/>
            <a:rect r="r" b="b" t="t" l="l"/>
            <a:pathLst>
              <a:path h="1570778" w="4876242">
                <a:moveTo>
                  <a:pt x="0" y="0"/>
                </a:moveTo>
                <a:lnTo>
                  <a:pt x="4876242" y="0"/>
                </a:lnTo>
                <a:lnTo>
                  <a:pt x="4876242" y="1570778"/>
                </a:lnTo>
                <a:lnTo>
                  <a:pt x="0" y="1570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322149" y="898918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09300" y="8168443"/>
            <a:ext cx="608935" cy="608935"/>
          </a:xfrm>
          <a:custGeom>
            <a:avLst/>
            <a:gdLst/>
            <a:ahLst/>
            <a:cxnLst/>
            <a:rect r="r" b="b" t="t" l="l"/>
            <a:pathLst>
              <a:path h="608935" w="608935">
                <a:moveTo>
                  <a:pt x="0" y="0"/>
                </a:moveTo>
                <a:lnTo>
                  <a:pt x="608935" y="0"/>
                </a:lnTo>
                <a:lnTo>
                  <a:pt x="608935" y="608935"/>
                </a:lnTo>
                <a:lnTo>
                  <a:pt x="0" y="6089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2644500" y="8237540"/>
            <a:ext cx="924957" cy="539839"/>
          </a:xfrm>
          <a:custGeom>
            <a:avLst/>
            <a:gdLst/>
            <a:ahLst/>
            <a:cxnLst/>
            <a:rect r="r" b="b" t="t" l="l"/>
            <a:pathLst>
              <a:path h="539839" w="924957">
                <a:moveTo>
                  <a:pt x="924958" y="0"/>
                </a:moveTo>
                <a:lnTo>
                  <a:pt x="0" y="0"/>
                </a:lnTo>
                <a:lnTo>
                  <a:pt x="0" y="539838"/>
                </a:lnTo>
                <a:lnTo>
                  <a:pt x="924958" y="539838"/>
                </a:lnTo>
                <a:lnTo>
                  <a:pt x="92495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69458" y="6863187"/>
            <a:ext cx="2783692" cy="2049494"/>
          </a:xfrm>
          <a:custGeom>
            <a:avLst/>
            <a:gdLst/>
            <a:ahLst/>
            <a:cxnLst/>
            <a:rect r="r" b="b" t="t" l="l"/>
            <a:pathLst>
              <a:path h="2049494" w="2783692">
                <a:moveTo>
                  <a:pt x="0" y="0"/>
                </a:moveTo>
                <a:lnTo>
                  <a:pt x="2783692" y="0"/>
                </a:lnTo>
                <a:lnTo>
                  <a:pt x="2783692" y="2049493"/>
                </a:lnTo>
                <a:lnTo>
                  <a:pt x="0" y="204949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56945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52494" y="602587"/>
            <a:ext cx="6960111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Three-way split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69458" y="7373092"/>
            <a:ext cx="3329904" cy="109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stratify function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3849" y="2765494"/>
            <a:ext cx="8432624" cy="4002859"/>
            <a:chOff x="0" y="0"/>
            <a:chExt cx="616787" cy="2927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6787" cy="292781"/>
            </a:xfrm>
            <a:custGeom>
              <a:avLst/>
              <a:gdLst/>
              <a:ahLst/>
              <a:cxnLst/>
              <a:rect r="r" b="b" t="t" l="l"/>
              <a:pathLst>
                <a:path h="292781" w="616787">
                  <a:moveTo>
                    <a:pt x="32133" y="0"/>
                  </a:moveTo>
                  <a:lnTo>
                    <a:pt x="584654" y="0"/>
                  </a:lnTo>
                  <a:cubicBezTo>
                    <a:pt x="602401" y="0"/>
                    <a:pt x="616787" y="14387"/>
                    <a:pt x="616787" y="32133"/>
                  </a:cubicBezTo>
                  <a:lnTo>
                    <a:pt x="616787" y="260648"/>
                  </a:lnTo>
                  <a:cubicBezTo>
                    <a:pt x="616787" y="269170"/>
                    <a:pt x="613402" y="277343"/>
                    <a:pt x="607376" y="283370"/>
                  </a:cubicBezTo>
                  <a:cubicBezTo>
                    <a:pt x="601350" y="289396"/>
                    <a:pt x="593177" y="292781"/>
                    <a:pt x="584654" y="292781"/>
                  </a:cubicBezTo>
                  <a:lnTo>
                    <a:pt x="32133" y="292781"/>
                  </a:lnTo>
                  <a:cubicBezTo>
                    <a:pt x="14387" y="292781"/>
                    <a:pt x="0" y="278395"/>
                    <a:pt x="0" y="260648"/>
                  </a:cubicBezTo>
                  <a:lnTo>
                    <a:pt x="0" y="32133"/>
                  </a:lnTo>
                  <a:cubicBezTo>
                    <a:pt x="0" y="14387"/>
                    <a:pt x="14387" y="0"/>
                    <a:pt x="32133" y="0"/>
                  </a:cubicBezTo>
                  <a:close/>
                </a:path>
              </a:pathLst>
            </a:custGeom>
            <a:solidFill>
              <a:srgbClr val="8C63F4">
                <a:alpha val="12941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82590" y="2765494"/>
            <a:ext cx="8432624" cy="4002859"/>
            <a:chOff x="0" y="0"/>
            <a:chExt cx="616787" cy="2927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6787" cy="292781"/>
            </a:xfrm>
            <a:custGeom>
              <a:avLst/>
              <a:gdLst/>
              <a:ahLst/>
              <a:cxnLst/>
              <a:rect r="r" b="b" t="t" l="l"/>
              <a:pathLst>
                <a:path h="292781" w="616787">
                  <a:moveTo>
                    <a:pt x="32133" y="0"/>
                  </a:moveTo>
                  <a:lnTo>
                    <a:pt x="584654" y="0"/>
                  </a:lnTo>
                  <a:cubicBezTo>
                    <a:pt x="602401" y="0"/>
                    <a:pt x="616787" y="14387"/>
                    <a:pt x="616787" y="32133"/>
                  </a:cubicBezTo>
                  <a:lnTo>
                    <a:pt x="616787" y="260648"/>
                  </a:lnTo>
                  <a:cubicBezTo>
                    <a:pt x="616787" y="269170"/>
                    <a:pt x="613402" y="277343"/>
                    <a:pt x="607376" y="283370"/>
                  </a:cubicBezTo>
                  <a:cubicBezTo>
                    <a:pt x="601350" y="289396"/>
                    <a:pt x="593177" y="292781"/>
                    <a:pt x="584654" y="292781"/>
                  </a:cubicBezTo>
                  <a:lnTo>
                    <a:pt x="32133" y="292781"/>
                  </a:lnTo>
                  <a:cubicBezTo>
                    <a:pt x="14387" y="292781"/>
                    <a:pt x="0" y="278395"/>
                    <a:pt x="0" y="260648"/>
                  </a:cubicBezTo>
                  <a:lnTo>
                    <a:pt x="0" y="32133"/>
                  </a:lnTo>
                  <a:cubicBezTo>
                    <a:pt x="0" y="14387"/>
                    <a:pt x="14387" y="0"/>
                    <a:pt x="32133" y="0"/>
                  </a:cubicBezTo>
                  <a:close/>
                </a:path>
              </a:pathLst>
            </a:custGeom>
            <a:solidFill>
              <a:srgbClr val="8C63F4">
                <a:alpha val="12941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04727" y="276549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57438" y="4486625"/>
            <a:ext cx="1373125" cy="1318200"/>
          </a:xfrm>
          <a:custGeom>
            <a:avLst/>
            <a:gdLst/>
            <a:ahLst/>
            <a:cxnLst/>
            <a:rect r="r" b="b" t="t" l="l"/>
            <a:pathLst>
              <a:path h="1318200" w="1373125">
                <a:moveTo>
                  <a:pt x="0" y="0"/>
                </a:moveTo>
                <a:lnTo>
                  <a:pt x="1373124" y="0"/>
                </a:lnTo>
                <a:lnTo>
                  <a:pt x="1373124" y="1318200"/>
                </a:lnTo>
                <a:lnTo>
                  <a:pt x="0" y="1318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2256626" y="2122991"/>
            <a:ext cx="5084554" cy="1285005"/>
          </a:xfrm>
          <a:custGeom>
            <a:avLst/>
            <a:gdLst/>
            <a:ahLst/>
            <a:cxnLst/>
            <a:rect r="r" b="b" t="t" l="l"/>
            <a:pathLst>
              <a:path h="1285005" w="5084554">
                <a:moveTo>
                  <a:pt x="5084553" y="0"/>
                </a:moveTo>
                <a:lnTo>
                  <a:pt x="0" y="0"/>
                </a:lnTo>
                <a:lnTo>
                  <a:pt x="0" y="1285006"/>
                </a:lnTo>
                <a:lnTo>
                  <a:pt x="5084553" y="1285006"/>
                </a:lnTo>
                <a:lnTo>
                  <a:pt x="508455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17885" y="2099171"/>
            <a:ext cx="5084554" cy="1285005"/>
          </a:xfrm>
          <a:custGeom>
            <a:avLst/>
            <a:gdLst/>
            <a:ahLst/>
            <a:cxnLst/>
            <a:rect r="r" b="b" t="t" l="l"/>
            <a:pathLst>
              <a:path h="1285005" w="5084554">
                <a:moveTo>
                  <a:pt x="0" y="0"/>
                </a:moveTo>
                <a:lnTo>
                  <a:pt x="5084553" y="0"/>
                </a:lnTo>
                <a:lnTo>
                  <a:pt x="5084553" y="1285006"/>
                </a:lnTo>
                <a:lnTo>
                  <a:pt x="0" y="1285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3111" y="4090091"/>
            <a:ext cx="7071583" cy="2106819"/>
          </a:xfrm>
          <a:custGeom>
            <a:avLst/>
            <a:gdLst/>
            <a:ahLst/>
            <a:cxnLst/>
            <a:rect r="r" b="b" t="t" l="l"/>
            <a:pathLst>
              <a:path h="2106819" w="7071583">
                <a:moveTo>
                  <a:pt x="0" y="0"/>
                </a:moveTo>
                <a:lnTo>
                  <a:pt x="7071583" y="0"/>
                </a:lnTo>
                <a:lnTo>
                  <a:pt x="7071583" y="2106818"/>
                </a:lnTo>
                <a:lnTo>
                  <a:pt x="0" y="21068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035241" y="4032356"/>
            <a:ext cx="5915596" cy="908537"/>
          </a:xfrm>
          <a:custGeom>
            <a:avLst/>
            <a:gdLst/>
            <a:ahLst/>
            <a:cxnLst/>
            <a:rect r="r" b="b" t="t" l="l"/>
            <a:pathLst>
              <a:path h="908537" w="5915596">
                <a:moveTo>
                  <a:pt x="0" y="0"/>
                </a:moveTo>
                <a:lnTo>
                  <a:pt x="5915596" y="0"/>
                </a:lnTo>
                <a:lnTo>
                  <a:pt x="5915596" y="908538"/>
                </a:lnTo>
                <a:lnTo>
                  <a:pt x="0" y="9085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0894" t="0" r="-37262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9443849" y="6395375"/>
            <a:ext cx="3955611" cy="3770009"/>
            <a:chOff x="0" y="0"/>
            <a:chExt cx="5274148" cy="50266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74148" cy="5026679"/>
            </a:xfrm>
            <a:custGeom>
              <a:avLst/>
              <a:gdLst/>
              <a:ahLst/>
              <a:cxnLst/>
              <a:rect r="r" b="b" t="t" l="l"/>
              <a:pathLst>
                <a:path h="5026679" w="5274148">
                  <a:moveTo>
                    <a:pt x="0" y="0"/>
                  </a:moveTo>
                  <a:lnTo>
                    <a:pt x="5274148" y="0"/>
                  </a:lnTo>
                  <a:lnTo>
                    <a:pt x="5274148" y="5026679"/>
                  </a:lnTo>
                  <a:lnTo>
                    <a:pt x="0" y="5026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-3866"/>
              </a:stretch>
            </a:blipFill>
            <a:ln w="38100" cap="sq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1485729" y="8481"/>
              <a:ext cx="2390423" cy="779085"/>
              <a:chOff x="0" y="0"/>
              <a:chExt cx="501588" cy="16347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01588" cy="163477"/>
              </a:xfrm>
              <a:custGeom>
                <a:avLst/>
                <a:gdLst/>
                <a:ahLst/>
                <a:cxnLst/>
                <a:rect r="r" b="b" t="t" l="l"/>
                <a:pathLst>
                  <a:path h="163477" w="501588">
                    <a:moveTo>
                      <a:pt x="0" y="0"/>
                    </a:moveTo>
                    <a:lnTo>
                      <a:pt x="501588" y="0"/>
                    </a:lnTo>
                    <a:lnTo>
                      <a:pt x="501588" y="163477"/>
                    </a:lnTo>
                    <a:lnTo>
                      <a:pt x="0" y="16347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501588" cy="2111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5522374" y="6395375"/>
            <a:ext cx="3637610" cy="3770009"/>
          </a:xfrm>
          <a:custGeom>
            <a:avLst/>
            <a:gdLst/>
            <a:ahLst/>
            <a:cxnLst/>
            <a:rect r="r" b="b" t="t" l="l"/>
            <a:pathLst>
              <a:path h="3770009" w="3637610">
                <a:moveTo>
                  <a:pt x="0" y="0"/>
                </a:moveTo>
                <a:lnTo>
                  <a:pt x="3637610" y="0"/>
                </a:lnTo>
                <a:lnTo>
                  <a:pt x="3637610" y="3770009"/>
                </a:lnTo>
                <a:lnTo>
                  <a:pt x="0" y="37700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9009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true" flipV="false" rot="0">
            <a:off x="3533611" y="7998394"/>
            <a:ext cx="1988764" cy="361593"/>
          </a:xfrm>
          <a:custGeom>
            <a:avLst/>
            <a:gdLst/>
            <a:ahLst/>
            <a:cxnLst/>
            <a:rect r="r" b="b" t="t" l="l"/>
            <a:pathLst>
              <a:path h="361593" w="1988764">
                <a:moveTo>
                  <a:pt x="1988763" y="0"/>
                </a:moveTo>
                <a:lnTo>
                  <a:pt x="0" y="0"/>
                </a:lnTo>
                <a:lnTo>
                  <a:pt x="0" y="361593"/>
                </a:lnTo>
                <a:lnTo>
                  <a:pt x="1988763" y="361593"/>
                </a:lnTo>
                <a:lnTo>
                  <a:pt x="198876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432938" y="8099583"/>
            <a:ext cx="1988764" cy="361593"/>
          </a:xfrm>
          <a:custGeom>
            <a:avLst/>
            <a:gdLst/>
            <a:ahLst/>
            <a:cxnLst/>
            <a:rect r="r" b="b" t="t" l="l"/>
            <a:pathLst>
              <a:path h="361593" w="1988764">
                <a:moveTo>
                  <a:pt x="0" y="0"/>
                </a:moveTo>
                <a:lnTo>
                  <a:pt x="1988764" y="0"/>
                </a:lnTo>
                <a:lnTo>
                  <a:pt x="1988764" y="361593"/>
                </a:lnTo>
                <a:lnTo>
                  <a:pt x="0" y="3615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60599" y="7454153"/>
            <a:ext cx="2392053" cy="1331230"/>
            <a:chOff x="0" y="0"/>
            <a:chExt cx="630006" cy="3506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006" cy="350612"/>
            </a:xfrm>
            <a:custGeom>
              <a:avLst/>
              <a:gdLst/>
              <a:ahLst/>
              <a:cxnLst/>
              <a:rect r="r" b="b" t="t" l="l"/>
              <a:pathLst>
                <a:path h="350612" w="630006">
                  <a:moveTo>
                    <a:pt x="61494" y="0"/>
                  </a:moveTo>
                  <a:lnTo>
                    <a:pt x="568512" y="0"/>
                  </a:lnTo>
                  <a:cubicBezTo>
                    <a:pt x="584821" y="0"/>
                    <a:pt x="600462" y="6479"/>
                    <a:pt x="611995" y="18011"/>
                  </a:cubicBezTo>
                  <a:cubicBezTo>
                    <a:pt x="623527" y="29543"/>
                    <a:pt x="630006" y="45185"/>
                    <a:pt x="630006" y="61494"/>
                  </a:cubicBezTo>
                  <a:lnTo>
                    <a:pt x="630006" y="289118"/>
                  </a:lnTo>
                  <a:cubicBezTo>
                    <a:pt x="630006" y="323080"/>
                    <a:pt x="602474" y="350612"/>
                    <a:pt x="568512" y="350612"/>
                  </a:cubicBezTo>
                  <a:lnTo>
                    <a:pt x="61494" y="350612"/>
                  </a:lnTo>
                  <a:cubicBezTo>
                    <a:pt x="45185" y="350612"/>
                    <a:pt x="29543" y="344133"/>
                    <a:pt x="18011" y="332601"/>
                  </a:cubicBezTo>
                  <a:cubicBezTo>
                    <a:pt x="6479" y="321068"/>
                    <a:pt x="0" y="305427"/>
                    <a:pt x="0" y="289118"/>
                  </a:cubicBezTo>
                  <a:lnTo>
                    <a:pt x="0" y="61494"/>
                  </a:lnTo>
                  <a:cubicBezTo>
                    <a:pt x="0" y="45185"/>
                    <a:pt x="6479" y="29543"/>
                    <a:pt x="18011" y="18011"/>
                  </a:cubicBezTo>
                  <a:cubicBezTo>
                    <a:pt x="29543" y="6479"/>
                    <a:pt x="45185" y="0"/>
                    <a:pt x="61494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30006" cy="407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Log loss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341179" y="290375"/>
            <a:ext cx="4457541" cy="121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7799" spc="-42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XGBoost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4959" y="2188210"/>
            <a:ext cx="385275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EA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Baseline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27835" y="2188210"/>
            <a:ext cx="385275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BF6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Optuna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497902" y="7614765"/>
            <a:ext cx="2392053" cy="1331230"/>
            <a:chOff x="0" y="0"/>
            <a:chExt cx="630006" cy="3506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0006" cy="350612"/>
            </a:xfrm>
            <a:custGeom>
              <a:avLst/>
              <a:gdLst/>
              <a:ahLst/>
              <a:cxnLst/>
              <a:rect r="r" b="b" t="t" l="l"/>
              <a:pathLst>
                <a:path h="350612" w="630006">
                  <a:moveTo>
                    <a:pt x="61494" y="0"/>
                  </a:moveTo>
                  <a:lnTo>
                    <a:pt x="568512" y="0"/>
                  </a:lnTo>
                  <a:cubicBezTo>
                    <a:pt x="584821" y="0"/>
                    <a:pt x="600462" y="6479"/>
                    <a:pt x="611995" y="18011"/>
                  </a:cubicBezTo>
                  <a:cubicBezTo>
                    <a:pt x="623527" y="29543"/>
                    <a:pt x="630006" y="45185"/>
                    <a:pt x="630006" y="61494"/>
                  </a:cubicBezTo>
                  <a:lnTo>
                    <a:pt x="630006" y="289118"/>
                  </a:lnTo>
                  <a:cubicBezTo>
                    <a:pt x="630006" y="323080"/>
                    <a:pt x="602474" y="350612"/>
                    <a:pt x="568512" y="350612"/>
                  </a:cubicBezTo>
                  <a:lnTo>
                    <a:pt x="61494" y="350612"/>
                  </a:lnTo>
                  <a:cubicBezTo>
                    <a:pt x="45185" y="350612"/>
                    <a:pt x="29543" y="344133"/>
                    <a:pt x="18011" y="332601"/>
                  </a:cubicBezTo>
                  <a:cubicBezTo>
                    <a:pt x="6479" y="321068"/>
                    <a:pt x="0" y="305427"/>
                    <a:pt x="0" y="289118"/>
                  </a:cubicBezTo>
                  <a:lnTo>
                    <a:pt x="0" y="61494"/>
                  </a:lnTo>
                  <a:cubicBezTo>
                    <a:pt x="0" y="45185"/>
                    <a:pt x="6479" y="29543"/>
                    <a:pt x="18011" y="18011"/>
                  </a:cubicBezTo>
                  <a:cubicBezTo>
                    <a:pt x="29543" y="6479"/>
                    <a:pt x="45185" y="0"/>
                    <a:pt x="61494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30006" cy="407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AUC ROC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04727" y="276549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33402" y="2367824"/>
            <a:ext cx="4721824" cy="7337590"/>
            <a:chOff x="0" y="0"/>
            <a:chExt cx="6295766" cy="9783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95766" cy="1591112"/>
            </a:xfrm>
            <a:custGeom>
              <a:avLst/>
              <a:gdLst/>
              <a:ahLst/>
              <a:cxnLst/>
              <a:rect r="r" b="b" t="t" l="l"/>
              <a:pathLst>
                <a:path h="1591112" w="6295766">
                  <a:moveTo>
                    <a:pt x="0" y="0"/>
                  </a:moveTo>
                  <a:lnTo>
                    <a:pt x="6295766" y="0"/>
                  </a:lnTo>
                  <a:lnTo>
                    <a:pt x="6295766" y="1591112"/>
                  </a:lnTo>
                  <a:lnTo>
                    <a:pt x="0" y="159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6929" y="1951289"/>
              <a:ext cx="5741908" cy="7832165"/>
            </a:xfrm>
            <a:custGeom>
              <a:avLst/>
              <a:gdLst/>
              <a:ahLst/>
              <a:cxnLst/>
              <a:rect r="r" b="b" t="t" l="l"/>
              <a:pathLst>
                <a:path h="7832165" w="5741908">
                  <a:moveTo>
                    <a:pt x="0" y="0"/>
                  </a:moveTo>
                  <a:lnTo>
                    <a:pt x="5741908" y="0"/>
                  </a:lnTo>
                  <a:lnTo>
                    <a:pt x="5741908" y="7832165"/>
                  </a:lnTo>
                  <a:lnTo>
                    <a:pt x="0" y="7832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  <a:ln w="38100" cap="sq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55" y="197661"/>
              <a:ext cx="5093089" cy="1167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38"/>
                </a:lnSpc>
              </a:pPr>
              <a:r>
                <a:rPr lang="en-US" sz="5638" spc="-310">
                  <a:solidFill>
                    <a:srgbClr val="EA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AUC - ROC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39159" y="499814"/>
            <a:ext cx="4988486" cy="121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7799" spc="-42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LightGBM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107492" y="2360520"/>
            <a:ext cx="4721824" cy="7344895"/>
            <a:chOff x="0" y="0"/>
            <a:chExt cx="6295766" cy="9793193"/>
          </a:xfrm>
        </p:grpSpPr>
        <p:sp>
          <p:nvSpPr>
            <p:cNvPr name="Freeform 14" id="14"/>
            <p:cNvSpPr/>
            <p:nvPr/>
          </p:nvSpPr>
          <p:spPr>
            <a:xfrm flipH="true" flipV="false" rot="0">
              <a:off x="0" y="0"/>
              <a:ext cx="6295766" cy="1591112"/>
            </a:xfrm>
            <a:custGeom>
              <a:avLst/>
              <a:gdLst/>
              <a:ahLst/>
              <a:cxnLst/>
              <a:rect r="r" b="b" t="t" l="l"/>
              <a:pathLst>
                <a:path h="1591112" w="6295766">
                  <a:moveTo>
                    <a:pt x="6295766" y="0"/>
                  </a:moveTo>
                  <a:lnTo>
                    <a:pt x="0" y="0"/>
                  </a:lnTo>
                  <a:lnTo>
                    <a:pt x="0" y="1591112"/>
                  </a:lnTo>
                  <a:lnTo>
                    <a:pt x="6295766" y="1591112"/>
                  </a:lnTo>
                  <a:lnTo>
                    <a:pt x="6295766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609" y="1961029"/>
              <a:ext cx="5776547" cy="7832165"/>
            </a:xfrm>
            <a:custGeom>
              <a:avLst/>
              <a:gdLst/>
              <a:ahLst/>
              <a:cxnLst/>
              <a:rect r="r" b="b" t="t" l="l"/>
              <a:pathLst>
                <a:path h="7832165" w="5776547">
                  <a:moveTo>
                    <a:pt x="0" y="0"/>
                  </a:moveTo>
                  <a:lnTo>
                    <a:pt x="5776547" y="0"/>
                  </a:lnTo>
                  <a:lnTo>
                    <a:pt x="5776547" y="7832164"/>
                  </a:lnTo>
                  <a:lnTo>
                    <a:pt x="0" y="7832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  <a:ln w="38100" cap="sq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1202677" y="27132"/>
              <a:ext cx="5093089" cy="1167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38"/>
                </a:lnSpc>
              </a:pPr>
              <a:r>
                <a:rPr lang="en-US" sz="5638" spc="-310">
                  <a:solidFill>
                    <a:srgbClr val="EA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Log loss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2563" y="3256280"/>
            <a:ext cx="15012164" cy="4728832"/>
          </a:xfrm>
          <a:custGeom>
            <a:avLst/>
            <a:gdLst/>
            <a:ahLst/>
            <a:cxnLst/>
            <a:rect r="r" b="b" t="t" l="l"/>
            <a:pathLst>
              <a:path h="4728832" w="15012164">
                <a:moveTo>
                  <a:pt x="0" y="0"/>
                </a:moveTo>
                <a:lnTo>
                  <a:pt x="15012164" y="0"/>
                </a:lnTo>
                <a:lnTo>
                  <a:pt x="15012164" y="4728832"/>
                </a:lnTo>
                <a:lnTo>
                  <a:pt x="0" y="47288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779426" y="1684104"/>
            <a:ext cx="11204962" cy="121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7799" spc="-42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XGBoost vs LightGBM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83995" y="1184557"/>
            <a:ext cx="13946129" cy="18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Stratified k-fold cross-validation</a:t>
            </a:r>
          </a:p>
          <a:p>
            <a:pPr algn="l">
              <a:lnSpc>
                <a:spcPts val="670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539630" y="2588513"/>
            <a:ext cx="12634859" cy="1214475"/>
            <a:chOff x="0" y="0"/>
            <a:chExt cx="3327700" cy="319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27700" cy="319862"/>
            </a:xfrm>
            <a:custGeom>
              <a:avLst/>
              <a:gdLst/>
              <a:ahLst/>
              <a:cxnLst/>
              <a:rect r="r" b="b" t="t" l="l"/>
              <a:pathLst>
                <a:path h="319862" w="3327700">
                  <a:moveTo>
                    <a:pt x="11642" y="0"/>
                  </a:moveTo>
                  <a:lnTo>
                    <a:pt x="3316058" y="0"/>
                  </a:lnTo>
                  <a:cubicBezTo>
                    <a:pt x="3319145" y="0"/>
                    <a:pt x="3322107" y="1227"/>
                    <a:pt x="3324290" y="3410"/>
                  </a:cubicBezTo>
                  <a:cubicBezTo>
                    <a:pt x="3326473" y="5593"/>
                    <a:pt x="3327700" y="8554"/>
                    <a:pt x="3327700" y="11642"/>
                  </a:cubicBezTo>
                  <a:lnTo>
                    <a:pt x="3327700" y="308220"/>
                  </a:lnTo>
                  <a:cubicBezTo>
                    <a:pt x="3327700" y="311307"/>
                    <a:pt x="3326473" y="314269"/>
                    <a:pt x="3324290" y="316452"/>
                  </a:cubicBezTo>
                  <a:cubicBezTo>
                    <a:pt x="3322107" y="318635"/>
                    <a:pt x="3319145" y="319862"/>
                    <a:pt x="3316058" y="319862"/>
                  </a:cubicBezTo>
                  <a:lnTo>
                    <a:pt x="11642" y="319862"/>
                  </a:lnTo>
                  <a:cubicBezTo>
                    <a:pt x="8554" y="319862"/>
                    <a:pt x="5593" y="318635"/>
                    <a:pt x="3410" y="316452"/>
                  </a:cubicBezTo>
                  <a:cubicBezTo>
                    <a:pt x="1227" y="314269"/>
                    <a:pt x="0" y="311307"/>
                    <a:pt x="0" y="308220"/>
                  </a:cubicBezTo>
                  <a:lnTo>
                    <a:pt x="0" y="11642"/>
                  </a:lnTo>
                  <a:cubicBezTo>
                    <a:pt x="0" y="8554"/>
                    <a:pt x="1227" y="5593"/>
                    <a:pt x="3410" y="3410"/>
                  </a:cubicBezTo>
                  <a:cubicBezTo>
                    <a:pt x="5593" y="1227"/>
                    <a:pt x="8554" y="0"/>
                    <a:pt x="11642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327700" cy="377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8717" y="4330484"/>
            <a:ext cx="7415283" cy="4875739"/>
          </a:xfrm>
          <a:custGeom>
            <a:avLst/>
            <a:gdLst/>
            <a:ahLst/>
            <a:cxnLst/>
            <a:rect r="r" b="b" t="t" l="l"/>
            <a:pathLst>
              <a:path h="4875739" w="7415283">
                <a:moveTo>
                  <a:pt x="0" y="0"/>
                </a:moveTo>
                <a:lnTo>
                  <a:pt x="7415283" y="0"/>
                </a:lnTo>
                <a:lnTo>
                  <a:pt x="7415283" y="4875739"/>
                </a:lnTo>
                <a:lnTo>
                  <a:pt x="0" y="4875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458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9733700" y="4311621"/>
            <a:ext cx="7352274" cy="4894601"/>
          </a:xfrm>
          <a:custGeom>
            <a:avLst/>
            <a:gdLst/>
            <a:ahLst/>
            <a:cxnLst/>
            <a:rect r="r" b="b" t="t" l="l"/>
            <a:pathLst>
              <a:path h="4894601" w="7352274">
                <a:moveTo>
                  <a:pt x="0" y="0"/>
                </a:moveTo>
                <a:lnTo>
                  <a:pt x="7352274" y="0"/>
                </a:lnTo>
                <a:lnTo>
                  <a:pt x="7352274" y="4894602"/>
                </a:lnTo>
                <a:lnTo>
                  <a:pt x="0" y="4894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985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2340" y="3678139"/>
            <a:ext cx="1637290" cy="1616972"/>
          </a:xfrm>
          <a:custGeom>
            <a:avLst/>
            <a:gdLst/>
            <a:ahLst/>
            <a:cxnLst/>
            <a:rect r="r" b="b" t="t" l="l"/>
            <a:pathLst>
              <a:path h="1616972" w="1637290">
                <a:moveTo>
                  <a:pt x="0" y="0"/>
                </a:moveTo>
                <a:lnTo>
                  <a:pt x="1637290" y="0"/>
                </a:lnTo>
                <a:lnTo>
                  <a:pt x="1637290" y="1616972"/>
                </a:lnTo>
                <a:lnTo>
                  <a:pt x="0" y="16169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43570" y="2805692"/>
            <a:ext cx="1202698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skf = Stra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tifiedKFold(n_splits=5, shuffle=True, random_state=42)</a:t>
            </a:r>
          </a:p>
          <a:p>
            <a:pPr algn="ctr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39582" y="2812147"/>
            <a:ext cx="13454874" cy="4759662"/>
          </a:xfrm>
          <a:custGeom>
            <a:avLst/>
            <a:gdLst/>
            <a:ahLst/>
            <a:cxnLst/>
            <a:rect r="r" b="b" t="t" l="l"/>
            <a:pathLst>
              <a:path h="4759662" w="13454874">
                <a:moveTo>
                  <a:pt x="0" y="0"/>
                </a:moveTo>
                <a:lnTo>
                  <a:pt x="13454873" y="0"/>
                </a:lnTo>
                <a:lnTo>
                  <a:pt x="13454873" y="4759662"/>
                </a:lnTo>
                <a:lnTo>
                  <a:pt x="0" y="47596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504880" y="1322440"/>
            <a:ext cx="9278241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Probability calibration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60861" y="7870801"/>
            <a:ext cx="6533594" cy="1214475"/>
            <a:chOff x="0" y="0"/>
            <a:chExt cx="8711459" cy="16193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5433564" y="0"/>
              <a:ext cx="3277895" cy="1619300"/>
              <a:chOff x="0" y="0"/>
              <a:chExt cx="647485" cy="31986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47485" cy="319862"/>
              </a:xfrm>
              <a:custGeom>
                <a:avLst/>
                <a:gdLst/>
                <a:ahLst/>
                <a:cxnLst/>
                <a:rect r="r" b="b" t="t" l="l"/>
                <a:pathLst>
                  <a:path h="319862" w="647485">
                    <a:moveTo>
                      <a:pt x="59834" y="0"/>
                    </a:moveTo>
                    <a:lnTo>
                      <a:pt x="587652" y="0"/>
                    </a:lnTo>
                    <a:cubicBezTo>
                      <a:pt x="620697" y="0"/>
                      <a:pt x="647485" y="26788"/>
                      <a:pt x="647485" y="59834"/>
                    </a:cubicBezTo>
                    <a:lnTo>
                      <a:pt x="647485" y="260028"/>
                    </a:lnTo>
                    <a:cubicBezTo>
                      <a:pt x="647485" y="275897"/>
                      <a:pt x="641182" y="291116"/>
                      <a:pt x="629960" y="302337"/>
                    </a:cubicBezTo>
                    <a:cubicBezTo>
                      <a:pt x="618740" y="313558"/>
                      <a:pt x="603521" y="319862"/>
                      <a:pt x="587652" y="319862"/>
                    </a:cubicBezTo>
                    <a:lnTo>
                      <a:pt x="59834" y="319862"/>
                    </a:lnTo>
                    <a:cubicBezTo>
                      <a:pt x="26788" y="319862"/>
                      <a:pt x="0" y="293073"/>
                      <a:pt x="0" y="260028"/>
                    </a:cubicBezTo>
                    <a:lnTo>
                      <a:pt x="0" y="59834"/>
                    </a:lnTo>
                    <a:cubicBezTo>
                      <a:pt x="0" y="26788"/>
                      <a:pt x="26788" y="0"/>
                      <a:pt x="59834" y="0"/>
                    </a:cubicBezTo>
                    <a:close/>
                  </a:path>
                </a:pathLst>
              </a:custGeom>
              <a:solidFill>
                <a:srgbClr val="FFF8ED"/>
              </a:solidFill>
              <a:ln w="38100" cap="sq">
                <a:solidFill>
                  <a:srgbClr val="DAB288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647485" cy="377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076117" y="432037"/>
              <a:ext cx="1992789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sigmoid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0"/>
              <a:ext cx="5224692" cy="1619300"/>
              <a:chOff x="0" y="0"/>
              <a:chExt cx="1032038" cy="31986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32038" cy="319862"/>
              </a:xfrm>
              <a:custGeom>
                <a:avLst/>
                <a:gdLst/>
                <a:ahLst/>
                <a:cxnLst/>
                <a:rect r="r" b="b" t="t" l="l"/>
                <a:pathLst>
                  <a:path h="319862" w="1032038">
                    <a:moveTo>
                      <a:pt x="37539" y="0"/>
                    </a:moveTo>
                    <a:lnTo>
                      <a:pt x="994499" y="0"/>
                    </a:lnTo>
                    <a:cubicBezTo>
                      <a:pt x="1015231" y="0"/>
                      <a:pt x="1032038" y="16807"/>
                      <a:pt x="1032038" y="37539"/>
                    </a:cubicBezTo>
                    <a:lnTo>
                      <a:pt x="1032038" y="282323"/>
                    </a:lnTo>
                    <a:cubicBezTo>
                      <a:pt x="1032038" y="303055"/>
                      <a:pt x="1015231" y="319862"/>
                      <a:pt x="994499" y="319862"/>
                    </a:cubicBezTo>
                    <a:lnTo>
                      <a:pt x="37539" y="319862"/>
                    </a:lnTo>
                    <a:cubicBezTo>
                      <a:pt x="16807" y="319862"/>
                      <a:pt x="0" y="303055"/>
                      <a:pt x="0" y="282323"/>
                    </a:cubicBezTo>
                    <a:lnTo>
                      <a:pt x="0" y="37539"/>
                    </a:lnTo>
                    <a:cubicBezTo>
                      <a:pt x="0" y="16807"/>
                      <a:pt x="16807" y="0"/>
                      <a:pt x="37539" y="0"/>
                    </a:cubicBezTo>
                    <a:close/>
                  </a:path>
                </a:pathLst>
              </a:custGeom>
              <a:solidFill>
                <a:srgbClr val="FFF8ED"/>
              </a:solidFill>
              <a:ln w="38100" cap="sq">
                <a:solidFill>
                  <a:srgbClr val="DAB288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1032038" cy="377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57288" y="432037"/>
              <a:ext cx="4575589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Frozen estimator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978255" y="8297242"/>
            <a:ext cx="1988764" cy="361593"/>
          </a:xfrm>
          <a:custGeom>
            <a:avLst/>
            <a:gdLst/>
            <a:ahLst/>
            <a:cxnLst/>
            <a:rect r="r" b="b" t="t" l="l"/>
            <a:pathLst>
              <a:path h="361593" w="1988764">
                <a:moveTo>
                  <a:pt x="0" y="0"/>
                </a:moveTo>
                <a:lnTo>
                  <a:pt x="1988763" y="0"/>
                </a:lnTo>
                <a:lnTo>
                  <a:pt x="1988763" y="361594"/>
                </a:lnTo>
                <a:lnTo>
                  <a:pt x="0" y="3615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00069" y="7971859"/>
            <a:ext cx="4472568" cy="82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200" spc="-286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Functions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7240" y="3475421"/>
            <a:ext cx="8432624" cy="4002859"/>
            <a:chOff x="0" y="0"/>
            <a:chExt cx="616787" cy="2927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6787" cy="292781"/>
            </a:xfrm>
            <a:custGeom>
              <a:avLst/>
              <a:gdLst/>
              <a:ahLst/>
              <a:cxnLst/>
              <a:rect r="r" b="b" t="t" l="l"/>
              <a:pathLst>
                <a:path h="292781" w="616787">
                  <a:moveTo>
                    <a:pt x="32133" y="0"/>
                  </a:moveTo>
                  <a:lnTo>
                    <a:pt x="584654" y="0"/>
                  </a:lnTo>
                  <a:cubicBezTo>
                    <a:pt x="602401" y="0"/>
                    <a:pt x="616787" y="14387"/>
                    <a:pt x="616787" y="32133"/>
                  </a:cubicBezTo>
                  <a:lnTo>
                    <a:pt x="616787" y="260648"/>
                  </a:lnTo>
                  <a:cubicBezTo>
                    <a:pt x="616787" y="269170"/>
                    <a:pt x="613402" y="277343"/>
                    <a:pt x="607376" y="283370"/>
                  </a:cubicBezTo>
                  <a:cubicBezTo>
                    <a:pt x="601350" y="289396"/>
                    <a:pt x="593177" y="292781"/>
                    <a:pt x="584654" y="292781"/>
                  </a:cubicBezTo>
                  <a:lnTo>
                    <a:pt x="32133" y="292781"/>
                  </a:lnTo>
                  <a:cubicBezTo>
                    <a:pt x="14387" y="292781"/>
                    <a:pt x="0" y="278395"/>
                    <a:pt x="0" y="260648"/>
                  </a:cubicBezTo>
                  <a:lnTo>
                    <a:pt x="0" y="32133"/>
                  </a:lnTo>
                  <a:cubicBezTo>
                    <a:pt x="0" y="14387"/>
                    <a:pt x="14387" y="0"/>
                    <a:pt x="32133" y="0"/>
                  </a:cubicBezTo>
                  <a:close/>
                </a:path>
              </a:pathLst>
            </a:custGeom>
            <a:solidFill>
              <a:srgbClr val="8C63F4">
                <a:alpha val="12941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9960" y="3475421"/>
            <a:ext cx="8432624" cy="4002859"/>
            <a:chOff x="0" y="0"/>
            <a:chExt cx="616787" cy="2927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6787" cy="292781"/>
            </a:xfrm>
            <a:custGeom>
              <a:avLst/>
              <a:gdLst/>
              <a:ahLst/>
              <a:cxnLst/>
              <a:rect r="r" b="b" t="t" l="l"/>
              <a:pathLst>
                <a:path h="292781" w="616787">
                  <a:moveTo>
                    <a:pt x="32133" y="0"/>
                  </a:moveTo>
                  <a:lnTo>
                    <a:pt x="584654" y="0"/>
                  </a:lnTo>
                  <a:cubicBezTo>
                    <a:pt x="602401" y="0"/>
                    <a:pt x="616787" y="14387"/>
                    <a:pt x="616787" y="32133"/>
                  </a:cubicBezTo>
                  <a:lnTo>
                    <a:pt x="616787" y="260648"/>
                  </a:lnTo>
                  <a:cubicBezTo>
                    <a:pt x="616787" y="269170"/>
                    <a:pt x="613402" y="277343"/>
                    <a:pt x="607376" y="283370"/>
                  </a:cubicBezTo>
                  <a:cubicBezTo>
                    <a:pt x="601350" y="289396"/>
                    <a:pt x="593177" y="292781"/>
                    <a:pt x="584654" y="292781"/>
                  </a:cubicBezTo>
                  <a:lnTo>
                    <a:pt x="32133" y="292781"/>
                  </a:lnTo>
                  <a:cubicBezTo>
                    <a:pt x="14387" y="292781"/>
                    <a:pt x="0" y="278395"/>
                    <a:pt x="0" y="260648"/>
                  </a:cubicBezTo>
                  <a:lnTo>
                    <a:pt x="0" y="32133"/>
                  </a:lnTo>
                  <a:cubicBezTo>
                    <a:pt x="0" y="14387"/>
                    <a:pt x="14387" y="0"/>
                    <a:pt x="32133" y="0"/>
                  </a:cubicBezTo>
                  <a:close/>
                </a:path>
              </a:pathLst>
            </a:custGeom>
            <a:solidFill>
              <a:srgbClr val="8C63F4">
                <a:alpha val="12941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04727" y="276549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73422" y="4817751"/>
            <a:ext cx="1373125" cy="1318200"/>
          </a:xfrm>
          <a:custGeom>
            <a:avLst/>
            <a:gdLst/>
            <a:ahLst/>
            <a:cxnLst/>
            <a:rect r="r" b="b" t="t" l="l"/>
            <a:pathLst>
              <a:path h="1318200" w="1373125">
                <a:moveTo>
                  <a:pt x="0" y="0"/>
                </a:moveTo>
                <a:lnTo>
                  <a:pt x="1373125" y="0"/>
                </a:lnTo>
                <a:lnTo>
                  <a:pt x="1373125" y="1318200"/>
                </a:lnTo>
                <a:lnTo>
                  <a:pt x="0" y="1318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01276" y="2808720"/>
            <a:ext cx="5084554" cy="1285005"/>
          </a:xfrm>
          <a:custGeom>
            <a:avLst/>
            <a:gdLst/>
            <a:ahLst/>
            <a:cxnLst/>
            <a:rect r="r" b="b" t="t" l="l"/>
            <a:pathLst>
              <a:path h="1285005" w="5084554">
                <a:moveTo>
                  <a:pt x="0" y="0"/>
                </a:moveTo>
                <a:lnTo>
                  <a:pt x="5084553" y="0"/>
                </a:lnTo>
                <a:lnTo>
                  <a:pt x="5084553" y="1285005"/>
                </a:lnTo>
                <a:lnTo>
                  <a:pt x="0" y="1285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5079" y="4649946"/>
            <a:ext cx="7168484" cy="2406962"/>
          </a:xfrm>
          <a:custGeom>
            <a:avLst/>
            <a:gdLst/>
            <a:ahLst/>
            <a:cxnLst/>
            <a:rect r="r" b="b" t="t" l="l"/>
            <a:pathLst>
              <a:path h="2406962" w="7168484">
                <a:moveTo>
                  <a:pt x="0" y="0"/>
                </a:moveTo>
                <a:lnTo>
                  <a:pt x="7168484" y="0"/>
                </a:lnTo>
                <a:lnTo>
                  <a:pt x="7168484" y="2406962"/>
                </a:lnTo>
                <a:lnTo>
                  <a:pt x="0" y="2406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4265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1883995" y="2808720"/>
            <a:ext cx="5084554" cy="1285005"/>
            <a:chOff x="0" y="0"/>
            <a:chExt cx="6779405" cy="1713341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6779405" cy="1713341"/>
            </a:xfrm>
            <a:custGeom>
              <a:avLst/>
              <a:gdLst/>
              <a:ahLst/>
              <a:cxnLst/>
              <a:rect r="r" b="b" t="t" l="l"/>
              <a:pathLst>
                <a:path h="1713341" w="6779405">
                  <a:moveTo>
                    <a:pt x="6779405" y="0"/>
                  </a:moveTo>
                  <a:lnTo>
                    <a:pt x="0" y="0"/>
                  </a:lnTo>
                  <a:lnTo>
                    <a:pt x="0" y="1713341"/>
                  </a:lnTo>
                  <a:lnTo>
                    <a:pt x="6779405" y="1713341"/>
                  </a:lnTo>
                  <a:lnTo>
                    <a:pt x="6779405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064514" y="99658"/>
              <a:ext cx="5137012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EA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Baseline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711062" y="4817751"/>
            <a:ext cx="6548238" cy="1605989"/>
          </a:xfrm>
          <a:custGeom>
            <a:avLst/>
            <a:gdLst/>
            <a:ahLst/>
            <a:cxnLst/>
            <a:rect r="r" b="b" t="t" l="l"/>
            <a:pathLst>
              <a:path h="1605989" w="6548238">
                <a:moveTo>
                  <a:pt x="0" y="0"/>
                </a:moveTo>
                <a:lnTo>
                  <a:pt x="6548238" y="0"/>
                </a:lnTo>
                <a:lnTo>
                  <a:pt x="6548238" y="1605989"/>
                </a:lnTo>
                <a:lnTo>
                  <a:pt x="0" y="16059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32653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6968549" y="7870801"/>
            <a:ext cx="8277960" cy="1874877"/>
          </a:xfrm>
          <a:custGeom>
            <a:avLst/>
            <a:gdLst/>
            <a:ahLst/>
            <a:cxnLst/>
            <a:rect r="r" b="b" t="t" l="l"/>
            <a:pathLst>
              <a:path h="1874877" w="8277960">
                <a:moveTo>
                  <a:pt x="0" y="0"/>
                </a:moveTo>
                <a:lnTo>
                  <a:pt x="8277960" y="0"/>
                </a:lnTo>
                <a:lnTo>
                  <a:pt x="8277960" y="1874877"/>
                </a:lnTo>
                <a:lnTo>
                  <a:pt x="0" y="18748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-22239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5081623" y="681853"/>
            <a:ext cx="8156723" cy="121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7799" spc="-42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Random Forest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1226" y="2897758"/>
            <a:ext cx="385275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BF63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Optuna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808335" y="8627443"/>
            <a:ext cx="1988764" cy="361593"/>
          </a:xfrm>
          <a:custGeom>
            <a:avLst/>
            <a:gdLst/>
            <a:ahLst/>
            <a:cxnLst/>
            <a:rect r="r" b="b" t="t" l="l"/>
            <a:pathLst>
              <a:path h="361593" w="1988764">
                <a:moveTo>
                  <a:pt x="0" y="0"/>
                </a:moveTo>
                <a:lnTo>
                  <a:pt x="1988764" y="0"/>
                </a:lnTo>
                <a:lnTo>
                  <a:pt x="1988764" y="361594"/>
                </a:lnTo>
                <a:lnTo>
                  <a:pt x="0" y="3615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8700" y="8030730"/>
            <a:ext cx="3677533" cy="1603053"/>
            <a:chOff x="0" y="0"/>
            <a:chExt cx="968568" cy="4222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8568" cy="422203"/>
            </a:xfrm>
            <a:custGeom>
              <a:avLst/>
              <a:gdLst/>
              <a:ahLst/>
              <a:cxnLst/>
              <a:rect r="r" b="b" t="t" l="l"/>
              <a:pathLst>
                <a:path h="422203" w="968568">
                  <a:moveTo>
                    <a:pt x="39999" y="0"/>
                  </a:moveTo>
                  <a:lnTo>
                    <a:pt x="928569" y="0"/>
                  </a:lnTo>
                  <a:cubicBezTo>
                    <a:pt x="939178" y="0"/>
                    <a:pt x="949352" y="4214"/>
                    <a:pt x="956853" y="11715"/>
                  </a:cubicBezTo>
                  <a:cubicBezTo>
                    <a:pt x="964354" y="19217"/>
                    <a:pt x="968568" y="29390"/>
                    <a:pt x="968568" y="39999"/>
                  </a:cubicBezTo>
                  <a:lnTo>
                    <a:pt x="968568" y="382205"/>
                  </a:lnTo>
                  <a:cubicBezTo>
                    <a:pt x="968568" y="392813"/>
                    <a:pt x="964354" y="402987"/>
                    <a:pt x="956853" y="410488"/>
                  </a:cubicBezTo>
                  <a:cubicBezTo>
                    <a:pt x="949352" y="417989"/>
                    <a:pt x="939178" y="422203"/>
                    <a:pt x="928569" y="422203"/>
                  </a:cubicBezTo>
                  <a:lnTo>
                    <a:pt x="39999" y="422203"/>
                  </a:lnTo>
                  <a:cubicBezTo>
                    <a:pt x="29390" y="422203"/>
                    <a:pt x="19217" y="417989"/>
                    <a:pt x="11715" y="410488"/>
                  </a:cubicBezTo>
                  <a:cubicBezTo>
                    <a:pt x="4214" y="402987"/>
                    <a:pt x="0" y="392813"/>
                    <a:pt x="0" y="382205"/>
                  </a:cubicBezTo>
                  <a:lnTo>
                    <a:pt x="0" y="39999"/>
                  </a:lnTo>
                  <a:cubicBezTo>
                    <a:pt x="0" y="29390"/>
                    <a:pt x="4214" y="19217"/>
                    <a:pt x="11715" y="11715"/>
                  </a:cubicBezTo>
                  <a:cubicBezTo>
                    <a:pt x="19217" y="4214"/>
                    <a:pt x="29390" y="0"/>
                    <a:pt x="39999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68568" cy="479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training final tuned model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18095" y="4486625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83995" y="1184557"/>
            <a:ext cx="13946129" cy="18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Stratified k-fold cross-validation</a:t>
            </a:r>
          </a:p>
          <a:p>
            <a:pPr algn="l">
              <a:lnSpc>
                <a:spcPts val="670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539630" y="2588513"/>
            <a:ext cx="12634859" cy="1214475"/>
            <a:chOff x="0" y="0"/>
            <a:chExt cx="3327700" cy="319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27700" cy="319862"/>
            </a:xfrm>
            <a:custGeom>
              <a:avLst/>
              <a:gdLst/>
              <a:ahLst/>
              <a:cxnLst/>
              <a:rect r="r" b="b" t="t" l="l"/>
              <a:pathLst>
                <a:path h="319862" w="3327700">
                  <a:moveTo>
                    <a:pt x="11642" y="0"/>
                  </a:moveTo>
                  <a:lnTo>
                    <a:pt x="3316058" y="0"/>
                  </a:lnTo>
                  <a:cubicBezTo>
                    <a:pt x="3319145" y="0"/>
                    <a:pt x="3322107" y="1227"/>
                    <a:pt x="3324290" y="3410"/>
                  </a:cubicBezTo>
                  <a:cubicBezTo>
                    <a:pt x="3326473" y="5593"/>
                    <a:pt x="3327700" y="8554"/>
                    <a:pt x="3327700" y="11642"/>
                  </a:cubicBezTo>
                  <a:lnTo>
                    <a:pt x="3327700" y="308220"/>
                  </a:lnTo>
                  <a:cubicBezTo>
                    <a:pt x="3327700" y="311307"/>
                    <a:pt x="3326473" y="314269"/>
                    <a:pt x="3324290" y="316452"/>
                  </a:cubicBezTo>
                  <a:cubicBezTo>
                    <a:pt x="3322107" y="318635"/>
                    <a:pt x="3319145" y="319862"/>
                    <a:pt x="3316058" y="319862"/>
                  </a:cubicBezTo>
                  <a:lnTo>
                    <a:pt x="11642" y="319862"/>
                  </a:lnTo>
                  <a:cubicBezTo>
                    <a:pt x="8554" y="319862"/>
                    <a:pt x="5593" y="318635"/>
                    <a:pt x="3410" y="316452"/>
                  </a:cubicBezTo>
                  <a:cubicBezTo>
                    <a:pt x="1227" y="314269"/>
                    <a:pt x="0" y="311307"/>
                    <a:pt x="0" y="308220"/>
                  </a:cubicBezTo>
                  <a:lnTo>
                    <a:pt x="0" y="11642"/>
                  </a:lnTo>
                  <a:cubicBezTo>
                    <a:pt x="0" y="8554"/>
                    <a:pt x="1227" y="5593"/>
                    <a:pt x="3410" y="3410"/>
                  </a:cubicBezTo>
                  <a:cubicBezTo>
                    <a:pt x="5593" y="1227"/>
                    <a:pt x="8554" y="0"/>
                    <a:pt x="11642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327700" cy="377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03425" y="4333641"/>
            <a:ext cx="7881149" cy="4869424"/>
          </a:xfrm>
          <a:custGeom>
            <a:avLst/>
            <a:gdLst/>
            <a:ahLst/>
            <a:cxnLst/>
            <a:rect r="r" b="b" t="t" l="l"/>
            <a:pathLst>
              <a:path h="4869424" w="7881149">
                <a:moveTo>
                  <a:pt x="0" y="0"/>
                </a:moveTo>
                <a:lnTo>
                  <a:pt x="7881150" y="0"/>
                </a:lnTo>
                <a:lnTo>
                  <a:pt x="7881150" y="4869424"/>
                </a:lnTo>
                <a:lnTo>
                  <a:pt x="0" y="48694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2843570" y="2805692"/>
            <a:ext cx="1202698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skf = Stra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tifiedKFold(n_splits=5, shuffle=True, random_state=42)</a:t>
            </a:r>
          </a:p>
          <a:p>
            <a:pPr algn="ctr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16576" y="541508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9072525"/>
            <a:ext cx="6533594" cy="1214475"/>
            <a:chOff x="0" y="0"/>
            <a:chExt cx="8711459" cy="16193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5433564" y="0"/>
              <a:ext cx="3277895" cy="1619300"/>
              <a:chOff x="0" y="0"/>
              <a:chExt cx="647485" cy="31986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47485" cy="319862"/>
              </a:xfrm>
              <a:custGeom>
                <a:avLst/>
                <a:gdLst/>
                <a:ahLst/>
                <a:cxnLst/>
                <a:rect r="r" b="b" t="t" l="l"/>
                <a:pathLst>
                  <a:path h="319862" w="647485">
                    <a:moveTo>
                      <a:pt x="59834" y="0"/>
                    </a:moveTo>
                    <a:lnTo>
                      <a:pt x="587652" y="0"/>
                    </a:lnTo>
                    <a:cubicBezTo>
                      <a:pt x="620697" y="0"/>
                      <a:pt x="647485" y="26788"/>
                      <a:pt x="647485" y="59834"/>
                    </a:cubicBezTo>
                    <a:lnTo>
                      <a:pt x="647485" y="260028"/>
                    </a:lnTo>
                    <a:cubicBezTo>
                      <a:pt x="647485" y="275897"/>
                      <a:pt x="641182" y="291116"/>
                      <a:pt x="629960" y="302337"/>
                    </a:cubicBezTo>
                    <a:cubicBezTo>
                      <a:pt x="618740" y="313558"/>
                      <a:pt x="603521" y="319862"/>
                      <a:pt x="587652" y="319862"/>
                    </a:cubicBezTo>
                    <a:lnTo>
                      <a:pt x="59834" y="319862"/>
                    </a:lnTo>
                    <a:cubicBezTo>
                      <a:pt x="26788" y="319862"/>
                      <a:pt x="0" y="293073"/>
                      <a:pt x="0" y="260028"/>
                    </a:cubicBezTo>
                    <a:lnTo>
                      <a:pt x="0" y="59834"/>
                    </a:lnTo>
                    <a:cubicBezTo>
                      <a:pt x="0" y="26788"/>
                      <a:pt x="26788" y="0"/>
                      <a:pt x="59834" y="0"/>
                    </a:cubicBezTo>
                    <a:close/>
                  </a:path>
                </a:pathLst>
              </a:custGeom>
              <a:solidFill>
                <a:srgbClr val="FFF8ED"/>
              </a:solidFill>
              <a:ln w="38100" cap="sq">
                <a:solidFill>
                  <a:srgbClr val="DAB288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647485" cy="377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076117" y="432037"/>
              <a:ext cx="1992789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sigmoid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5224692" cy="1619300"/>
              <a:chOff x="0" y="0"/>
              <a:chExt cx="1032038" cy="31986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32038" cy="319862"/>
              </a:xfrm>
              <a:custGeom>
                <a:avLst/>
                <a:gdLst/>
                <a:ahLst/>
                <a:cxnLst/>
                <a:rect r="r" b="b" t="t" l="l"/>
                <a:pathLst>
                  <a:path h="319862" w="1032038">
                    <a:moveTo>
                      <a:pt x="37539" y="0"/>
                    </a:moveTo>
                    <a:lnTo>
                      <a:pt x="994499" y="0"/>
                    </a:lnTo>
                    <a:cubicBezTo>
                      <a:pt x="1015231" y="0"/>
                      <a:pt x="1032038" y="16807"/>
                      <a:pt x="1032038" y="37539"/>
                    </a:cubicBezTo>
                    <a:lnTo>
                      <a:pt x="1032038" y="282323"/>
                    </a:lnTo>
                    <a:cubicBezTo>
                      <a:pt x="1032038" y="303055"/>
                      <a:pt x="1015231" y="319862"/>
                      <a:pt x="994499" y="319862"/>
                    </a:cubicBezTo>
                    <a:lnTo>
                      <a:pt x="37539" y="319862"/>
                    </a:lnTo>
                    <a:cubicBezTo>
                      <a:pt x="16807" y="319862"/>
                      <a:pt x="0" y="303055"/>
                      <a:pt x="0" y="282323"/>
                    </a:cubicBezTo>
                    <a:lnTo>
                      <a:pt x="0" y="37539"/>
                    </a:lnTo>
                    <a:cubicBezTo>
                      <a:pt x="0" y="16807"/>
                      <a:pt x="16807" y="0"/>
                      <a:pt x="37539" y="0"/>
                    </a:cubicBezTo>
                    <a:close/>
                  </a:path>
                </a:pathLst>
              </a:custGeom>
              <a:solidFill>
                <a:srgbClr val="FFF8ED"/>
              </a:solidFill>
              <a:ln w="38100" cap="sq">
                <a:solidFill>
                  <a:srgbClr val="DAB288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032038" cy="377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</a:p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57288" y="432037"/>
              <a:ext cx="4575589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Frozen estimator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978255" y="9400990"/>
            <a:ext cx="1988764" cy="361593"/>
          </a:xfrm>
          <a:custGeom>
            <a:avLst/>
            <a:gdLst/>
            <a:ahLst/>
            <a:cxnLst/>
            <a:rect r="r" b="b" t="t" l="l"/>
            <a:pathLst>
              <a:path h="361593" w="1988764">
                <a:moveTo>
                  <a:pt x="0" y="0"/>
                </a:moveTo>
                <a:lnTo>
                  <a:pt x="1988763" y="0"/>
                </a:lnTo>
                <a:lnTo>
                  <a:pt x="1988763" y="361594"/>
                </a:lnTo>
                <a:lnTo>
                  <a:pt x="0" y="361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4109" y="2695851"/>
            <a:ext cx="15599781" cy="6103414"/>
          </a:xfrm>
          <a:custGeom>
            <a:avLst/>
            <a:gdLst/>
            <a:ahLst/>
            <a:cxnLst/>
            <a:rect r="r" b="b" t="t" l="l"/>
            <a:pathLst>
              <a:path h="6103414" w="15599781">
                <a:moveTo>
                  <a:pt x="0" y="0"/>
                </a:moveTo>
                <a:lnTo>
                  <a:pt x="15599782" y="0"/>
                </a:lnTo>
                <a:lnTo>
                  <a:pt x="15599782" y="6103414"/>
                </a:lnTo>
                <a:lnTo>
                  <a:pt x="0" y="6103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04880" y="1322440"/>
            <a:ext cx="9278241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Probability calibration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00069" y="9220200"/>
            <a:ext cx="4472568" cy="82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200" spc="-286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Functions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16576" y="541508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7407" y="2234116"/>
            <a:ext cx="15092297" cy="6565149"/>
          </a:xfrm>
          <a:custGeom>
            <a:avLst/>
            <a:gdLst/>
            <a:ahLst/>
            <a:cxnLst/>
            <a:rect r="r" b="b" t="t" l="l"/>
            <a:pathLst>
              <a:path h="6565149" w="15092297">
                <a:moveTo>
                  <a:pt x="0" y="0"/>
                </a:moveTo>
                <a:lnTo>
                  <a:pt x="15092296" y="0"/>
                </a:lnTo>
                <a:lnTo>
                  <a:pt x="15092296" y="6565149"/>
                </a:lnTo>
                <a:lnTo>
                  <a:pt x="0" y="65651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088294" y="879971"/>
            <a:ext cx="9278241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Feature importance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16576" y="541508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190" y="2588513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3309" y="2588513"/>
            <a:ext cx="14900492" cy="5960197"/>
          </a:xfrm>
          <a:custGeom>
            <a:avLst/>
            <a:gdLst/>
            <a:ahLst/>
            <a:cxnLst/>
            <a:rect r="r" b="b" t="t" l="l"/>
            <a:pathLst>
              <a:path h="5960197" w="14900492">
                <a:moveTo>
                  <a:pt x="0" y="0"/>
                </a:moveTo>
                <a:lnTo>
                  <a:pt x="14900492" y="0"/>
                </a:lnTo>
                <a:lnTo>
                  <a:pt x="14900492" y="5960196"/>
                </a:lnTo>
                <a:lnTo>
                  <a:pt x="0" y="5960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758325" y="1269129"/>
            <a:ext cx="10170460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ML models comparison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16576" y="541508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2243" y="2842498"/>
            <a:ext cx="17883514" cy="5230928"/>
          </a:xfrm>
          <a:custGeom>
            <a:avLst/>
            <a:gdLst/>
            <a:ahLst/>
            <a:cxnLst/>
            <a:rect r="r" b="b" t="t" l="l"/>
            <a:pathLst>
              <a:path h="5230928" w="17883514">
                <a:moveTo>
                  <a:pt x="0" y="0"/>
                </a:moveTo>
                <a:lnTo>
                  <a:pt x="17883514" y="0"/>
                </a:lnTo>
                <a:lnTo>
                  <a:pt x="17883514" y="5230928"/>
                </a:lnTo>
                <a:lnTo>
                  <a:pt x="0" y="52309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6481" y="758264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7779" y="1333741"/>
            <a:ext cx="13500975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Confusion matrices side by side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16576" y="541508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481" y="758264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48668" y="1199308"/>
            <a:ext cx="10610086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 </a:t>
            </a:r>
            <a:r>
              <a:rPr lang="en-US" sz="6703" spc="-368" u="sng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  <a:hlinkClick r:id="rId8" tooltip="https://www.google.com/search?q=Multilayer+Perceptron&amp;sca_esv=031e7e0cba0603c0&amp;sxsrf=ANbL-n5sJwkmrwIMHYm02vXO7oSrdf1r9Q%3A1775055637689&amp;ei=FTPNaYPiKe2hi-gPuP3GgA4&amp;biw=1536&amp;bih=730&amp;oq=mlp+&amp;gs_lp=Egxnd3Mtd2l6LXNlcnAiBG1scCAqAggAMgQQIxgnMgoQABiABBiKBRhDMgoQABiABBiKBRhDMgoQABiABBiKBRhDMgUQLhiABDIFEAAYgAQyBRAAGIAEMgoQABiABBgUGIcCMgoQABiABBiKBRhDMgoQABiABBiKBRhDSKwMULgBWLgBcAF4AZABAJgBgwGgAYMBqgEDMC4xuAEByAEA-AEBmAICoAKQAcICBxAjGLADGCfCAgoQABhHGNYEGLADwgINEAAYgAQYigUYQxiwA8ICDhAAGOQCGNYEGLAD2AEBwgITEC4YgAQYigUYQxjIAxiwA9gBAZgDAIgGAZAGE7oGBggBEAEYCZIHAzEuMaAHnQiyBwMwLjG4B4gBwgcDMi0yyAcKgAgB&amp;sclient=gws-wiz-serp&amp;mstk=AUtExfCHpd4tybx4PlkFBCnTU1cBXTA1ekuMH0_wTpUF8iEol9DqJkF-wKtjSH57kqOp1aQKYnWPZvfHANYCX6ELjbDCzogDfkZoC37yyvCZWwfxEX3u9lCpAV2SO2Ida9xKX4nLpLq6MSqod19mnQVcTM50teyw9Lenj585_1v0rU1Anl8B68DGY6GQCdVKyJ6NKysQp79ENCFISZc10TEDG30Gi_WsP4Ub5RRHvbP-8jGqeINH33Oj5zKNzBuj-9vBXwe4gJrN-EdzhRxZ1g1HHTS6&amp;csui=3&amp;ved=2ahUKEwiY0OPH9cyTAxUa9LsIHZ4-GRcQgK4QegQIARAD"/>
              </a:rPr>
              <a:t>Multilayer Perceptron</a:t>
            </a: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18985" y="3126387"/>
            <a:ext cx="8798872" cy="1214475"/>
            <a:chOff x="0" y="0"/>
            <a:chExt cx="2317398" cy="3198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7398" cy="319862"/>
            </a:xfrm>
            <a:custGeom>
              <a:avLst/>
              <a:gdLst/>
              <a:ahLst/>
              <a:cxnLst/>
              <a:rect r="r" b="b" t="t" l="l"/>
              <a:pathLst>
                <a:path h="319862" w="2317398">
                  <a:moveTo>
                    <a:pt x="16718" y="0"/>
                  </a:moveTo>
                  <a:lnTo>
                    <a:pt x="2300681" y="0"/>
                  </a:lnTo>
                  <a:cubicBezTo>
                    <a:pt x="2309914" y="0"/>
                    <a:pt x="2317398" y="7485"/>
                    <a:pt x="2317398" y="16718"/>
                  </a:cubicBezTo>
                  <a:lnTo>
                    <a:pt x="2317398" y="303144"/>
                  </a:lnTo>
                  <a:cubicBezTo>
                    <a:pt x="2317398" y="312377"/>
                    <a:pt x="2309914" y="319862"/>
                    <a:pt x="2300681" y="319862"/>
                  </a:cubicBezTo>
                  <a:lnTo>
                    <a:pt x="16718" y="319862"/>
                  </a:lnTo>
                  <a:cubicBezTo>
                    <a:pt x="7485" y="319862"/>
                    <a:pt x="0" y="312377"/>
                    <a:pt x="0" y="303144"/>
                  </a:cubicBezTo>
                  <a:lnTo>
                    <a:pt x="0" y="16718"/>
                  </a:lnTo>
                  <a:cubicBezTo>
                    <a:pt x="0" y="7485"/>
                    <a:pt x="7485" y="0"/>
                    <a:pt x="16718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17398" cy="377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426522" y="3490789"/>
            <a:ext cx="796004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Feature Should Dominate Due to Scale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18985" y="4946608"/>
            <a:ext cx="8798872" cy="1214475"/>
            <a:chOff x="0" y="0"/>
            <a:chExt cx="2317398" cy="319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17398" cy="319862"/>
            </a:xfrm>
            <a:custGeom>
              <a:avLst/>
              <a:gdLst/>
              <a:ahLst/>
              <a:cxnLst/>
              <a:rect r="r" b="b" t="t" l="l"/>
              <a:pathLst>
                <a:path h="319862" w="2317398">
                  <a:moveTo>
                    <a:pt x="16718" y="0"/>
                  </a:moveTo>
                  <a:lnTo>
                    <a:pt x="2300681" y="0"/>
                  </a:lnTo>
                  <a:cubicBezTo>
                    <a:pt x="2309914" y="0"/>
                    <a:pt x="2317398" y="7485"/>
                    <a:pt x="2317398" y="16718"/>
                  </a:cubicBezTo>
                  <a:lnTo>
                    <a:pt x="2317398" y="303144"/>
                  </a:lnTo>
                  <a:cubicBezTo>
                    <a:pt x="2317398" y="312377"/>
                    <a:pt x="2309914" y="319862"/>
                    <a:pt x="2300681" y="319862"/>
                  </a:cubicBezTo>
                  <a:lnTo>
                    <a:pt x="16718" y="319862"/>
                  </a:lnTo>
                  <a:cubicBezTo>
                    <a:pt x="7485" y="319862"/>
                    <a:pt x="0" y="312377"/>
                    <a:pt x="0" y="303144"/>
                  </a:cubicBezTo>
                  <a:lnTo>
                    <a:pt x="0" y="16718"/>
                  </a:lnTo>
                  <a:cubicBezTo>
                    <a:pt x="0" y="7485"/>
                    <a:pt x="7485" y="0"/>
                    <a:pt x="16718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317398" cy="377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16859" y="5311009"/>
            <a:ext cx="637936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Saturation of Activation Functions</a:t>
            </a:r>
          </a:p>
          <a:p>
            <a:pPr algn="ctr">
              <a:lnSpc>
                <a:spcPts val="448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5007107" y="6796150"/>
            <a:ext cx="8798872" cy="1214475"/>
            <a:chOff x="0" y="0"/>
            <a:chExt cx="2317398" cy="319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7398" cy="319862"/>
            </a:xfrm>
            <a:custGeom>
              <a:avLst/>
              <a:gdLst/>
              <a:ahLst/>
              <a:cxnLst/>
              <a:rect r="r" b="b" t="t" l="l"/>
              <a:pathLst>
                <a:path h="319862" w="2317398">
                  <a:moveTo>
                    <a:pt x="16718" y="0"/>
                  </a:moveTo>
                  <a:lnTo>
                    <a:pt x="2300681" y="0"/>
                  </a:lnTo>
                  <a:cubicBezTo>
                    <a:pt x="2309914" y="0"/>
                    <a:pt x="2317398" y="7485"/>
                    <a:pt x="2317398" y="16718"/>
                  </a:cubicBezTo>
                  <a:lnTo>
                    <a:pt x="2317398" y="303144"/>
                  </a:lnTo>
                  <a:cubicBezTo>
                    <a:pt x="2317398" y="312377"/>
                    <a:pt x="2309914" y="319862"/>
                    <a:pt x="2300681" y="319862"/>
                  </a:cubicBezTo>
                  <a:lnTo>
                    <a:pt x="16718" y="319862"/>
                  </a:lnTo>
                  <a:cubicBezTo>
                    <a:pt x="7485" y="319862"/>
                    <a:pt x="0" y="312377"/>
                    <a:pt x="0" y="303144"/>
                  </a:cubicBezTo>
                  <a:lnTo>
                    <a:pt x="0" y="16718"/>
                  </a:lnTo>
                  <a:cubicBezTo>
                    <a:pt x="0" y="7485"/>
                    <a:pt x="7485" y="0"/>
                    <a:pt x="16718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317398" cy="377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718241" y="7160552"/>
            <a:ext cx="375285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Convergence Speed</a:t>
            </a:r>
          </a:p>
          <a:p>
            <a:pPr algn="ctr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758264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9538" y="3011950"/>
            <a:ext cx="16327341" cy="5061476"/>
          </a:xfrm>
          <a:custGeom>
            <a:avLst/>
            <a:gdLst/>
            <a:ahLst/>
            <a:cxnLst/>
            <a:rect r="r" b="b" t="t" l="l"/>
            <a:pathLst>
              <a:path h="5061476" w="16327341">
                <a:moveTo>
                  <a:pt x="0" y="0"/>
                </a:moveTo>
                <a:lnTo>
                  <a:pt x="16327341" y="0"/>
                </a:lnTo>
                <a:lnTo>
                  <a:pt x="16327341" y="5061476"/>
                </a:lnTo>
                <a:lnTo>
                  <a:pt x="0" y="5061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756258" y="1361538"/>
            <a:ext cx="8775484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MLP final evaluation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3136" y="0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16576" y="5415089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535" y="-63501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81" y="471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304570">
            <a:off x="16114269" y="8320869"/>
            <a:ext cx="2290063" cy="2883430"/>
          </a:xfrm>
          <a:custGeom>
            <a:avLst/>
            <a:gdLst/>
            <a:ahLst/>
            <a:cxnLst/>
            <a:rect r="r" b="b" t="t" l="l"/>
            <a:pathLst>
              <a:path h="2883430" w="2290063">
                <a:moveTo>
                  <a:pt x="0" y="0"/>
                </a:moveTo>
                <a:lnTo>
                  <a:pt x="2290062" y="0"/>
                </a:lnTo>
                <a:lnTo>
                  <a:pt x="2290062" y="2883430"/>
                </a:lnTo>
                <a:lnTo>
                  <a:pt x="0" y="2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481" y="758264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8308" y="3014664"/>
            <a:ext cx="17411383" cy="4331082"/>
          </a:xfrm>
          <a:custGeom>
            <a:avLst/>
            <a:gdLst/>
            <a:ahLst/>
            <a:cxnLst/>
            <a:rect r="r" b="b" t="t" l="l"/>
            <a:pathLst>
              <a:path h="4331082" w="17411383">
                <a:moveTo>
                  <a:pt x="0" y="0"/>
                </a:moveTo>
                <a:lnTo>
                  <a:pt x="17411384" y="0"/>
                </a:lnTo>
                <a:lnTo>
                  <a:pt x="17411384" y="4331082"/>
                </a:lnTo>
                <a:lnTo>
                  <a:pt x="0" y="43310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7214693" y="7832101"/>
            <a:ext cx="6498112" cy="1214475"/>
            <a:chOff x="0" y="0"/>
            <a:chExt cx="1711437" cy="3198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11437" cy="319862"/>
            </a:xfrm>
            <a:custGeom>
              <a:avLst/>
              <a:gdLst/>
              <a:ahLst/>
              <a:cxnLst/>
              <a:rect r="r" b="b" t="t" l="l"/>
              <a:pathLst>
                <a:path h="319862" w="1711437">
                  <a:moveTo>
                    <a:pt x="22637" y="0"/>
                  </a:moveTo>
                  <a:lnTo>
                    <a:pt x="1688800" y="0"/>
                  </a:lnTo>
                  <a:cubicBezTo>
                    <a:pt x="1694804" y="0"/>
                    <a:pt x="1700562" y="2385"/>
                    <a:pt x="1704807" y="6630"/>
                  </a:cubicBezTo>
                  <a:cubicBezTo>
                    <a:pt x="1709052" y="10875"/>
                    <a:pt x="1711437" y="16633"/>
                    <a:pt x="1711437" y="22637"/>
                  </a:cubicBezTo>
                  <a:lnTo>
                    <a:pt x="1711437" y="297225"/>
                  </a:lnTo>
                  <a:cubicBezTo>
                    <a:pt x="1711437" y="303229"/>
                    <a:pt x="1709052" y="308986"/>
                    <a:pt x="1704807" y="313232"/>
                  </a:cubicBezTo>
                  <a:cubicBezTo>
                    <a:pt x="1700562" y="317477"/>
                    <a:pt x="1694804" y="319862"/>
                    <a:pt x="1688800" y="319862"/>
                  </a:cubicBezTo>
                  <a:lnTo>
                    <a:pt x="22637" y="319862"/>
                  </a:lnTo>
                  <a:cubicBezTo>
                    <a:pt x="16633" y="319862"/>
                    <a:pt x="10875" y="317477"/>
                    <a:pt x="6630" y="313232"/>
                  </a:cubicBezTo>
                  <a:cubicBezTo>
                    <a:pt x="2385" y="308986"/>
                    <a:pt x="0" y="303229"/>
                    <a:pt x="0" y="297225"/>
                  </a:cubicBezTo>
                  <a:lnTo>
                    <a:pt x="0" y="22637"/>
                  </a:lnTo>
                  <a:cubicBezTo>
                    <a:pt x="0" y="16633"/>
                    <a:pt x="2385" y="10875"/>
                    <a:pt x="6630" y="6630"/>
                  </a:cubicBezTo>
                  <a:cubicBezTo>
                    <a:pt x="10875" y="2385"/>
                    <a:pt x="16633" y="0"/>
                    <a:pt x="22637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11437" cy="377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201577" y="7630853"/>
            <a:ext cx="1637290" cy="1616972"/>
          </a:xfrm>
          <a:custGeom>
            <a:avLst/>
            <a:gdLst/>
            <a:ahLst/>
            <a:cxnLst/>
            <a:rect r="r" b="b" t="t" l="l"/>
            <a:pathLst>
              <a:path h="1616972" w="1637290">
                <a:moveTo>
                  <a:pt x="0" y="0"/>
                </a:moveTo>
                <a:lnTo>
                  <a:pt x="1637290" y="0"/>
                </a:lnTo>
                <a:lnTo>
                  <a:pt x="1637290" y="1616972"/>
                </a:lnTo>
                <a:lnTo>
                  <a:pt x="0" y="16169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54874" y="1420182"/>
            <a:ext cx="14140306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Comparison with other models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51602" y="8196503"/>
            <a:ext cx="497931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XGBoost is the best model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08565" y="173954"/>
            <a:ext cx="784638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b="true" sz="7543">
                <a:solidFill>
                  <a:srgbClr val="8C63F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6G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791" y="6045871"/>
            <a:ext cx="302620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3"/>
              </a:lnSpc>
              <a:spcBef>
                <a:spcPct val="0"/>
              </a:spcBef>
            </a:pPr>
            <a:r>
              <a:rPr lang="en-US" b="true" sz="4302" strike="noStrike" u="none">
                <a:solidFill>
                  <a:srgbClr val="8C63F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ERLLC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60239" y="6045871"/>
            <a:ext cx="302620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3"/>
              </a:lnSpc>
              <a:spcBef>
                <a:spcPct val="0"/>
              </a:spcBef>
            </a:pPr>
            <a:r>
              <a:rPr lang="en-US" b="true" sz="4302" strike="noStrike" u="none">
                <a:solidFill>
                  <a:srgbClr val="8C63F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feMBB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0934" y="6043007"/>
            <a:ext cx="2698280" cy="64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3"/>
              </a:lnSpc>
            </a:pPr>
            <a:r>
              <a:rPr lang="en-US" b="true" sz="4302">
                <a:solidFill>
                  <a:srgbClr val="8C63F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mURLLC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22441" y="6043471"/>
            <a:ext cx="3275404" cy="65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3"/>
              </a:lnSpc>
              <a:spcBef>
                <a:spcPct val="0"/>
              </a:spcBef>
            </a:pPr>
            <a:r>
              <a:rPr lang="en-US" b="true" sz="4302" strike="noStrike" u="none">
                <a:solidFill>
                  <a:srgbClr val="8C63F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MBRLLC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81166" y="6043007"/>
            <a:ext cx="2832368" cy="65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3"/>
              </a:lnSpc>
              <a:spcBef>
                <a:spcPct val="0"/>
              </a:spcBef>
            </a:pPr>
            <a:r>
              <a:rPr lang="en-US" b="true" sz="4302" strike="noStrike" u="none">
                <a:solidFill>
                  <a:srgbClr val="8C63F4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umMTC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529" y="2181227"/>
            <a:ext cx="5822442" cy="6827792"/>
          </a:xfrm>
          <a:custGeom>
            <a:avLst/>
            <a:gdLst/>
            <a:ahLst/>
            <a:cxnLst/>
            <a:rect r="r" b="b" t="t" l="l"/>
            <a:pathLst>
              <a:path h="6827792" w="5822442">
                <a:moveTo>
                  <a:pt x="0" y="0"/>
                </a:moveTo>
                <a:lnTo>
                  <a:pt x="5822442" y="0"/>
                </a:lnTo>
                <a:lnTo>
                  <a:pt x="5822442" y="6827791"/>
                </a:lnTo>
                <a:lnTo>
                  <a:pt x="0" y="6827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05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3426" y="2181227"/>
            <a:ext cx="5822442" cy="6827792"/>
          </a:xfrm>
          <a:custGeom>
            <a:avLst/>
            <a:gdLst/>
            <a:ahLst/>
            <a:cxnLst/>
            <a:rect r="r" b="b" t="t" l="l"/>
            <a:pathLst>
              <a:path h="6827792" w="5822442">
                <a:moveTo>
                  <a:pt x="0" y="0"/>
                </a:moveTo>
                <a:lnTo>
                  <a:pt x="5822442" y="0"/>
                </a:lnTo>
                <a:lnTo>
                  <a:pt x="5822442" y="6827791"/>
                </a:lnTo>
                <a:lnTo>
                  <a:pt x="0" y="6827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05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57372" y="3508878"/>
            <a:ext cx="5663996" cy="390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215" indent="-260107" lvl="1">
              <a:lnSpc>
                <a:spcPts val="3132"/>
              </a:lnSpc>
              <a:buFont typeface="Arial"/>
              <a:buChar char="•"/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10,000</a:t>
            </a: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samples </a:t>
            </a:r>
          </a:p>
          <a:p>
            <a:pPr algn="l">
              <a:lnSpc>
                <a:spcPts val="3132"/>
              </a:lnSpc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 with 12 features + 1 target</a:t>
            </a:r>
          </a:p>
          <a:p>
            <a:pPr algn="l">
              <a:lnSpc>
                <a:spcPts val="3132"/>
              </a:lnSpc>
            </a:pPr>
          </a:p>
          <a:p>
            <a:pPr algn="l" marL="520215" indent="-260107" lvl="1">
              <a:lnSpc>
                <a:spcPts val="3132"/>
              </a:lnSpc>
              <a:buFont typeface="Arial"/>
              <a:buChar char="•"/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5 classes of Slice Type</a:t>
            </a:r>
          </a:p>
          <a:p>
            <a:pPr algn="l">
              <a:lnSpc>
                <a:spcPts val="3132"/>
              </a:lnSpc>
            </a:pPr>
          </a:p>
          <a:p>
            <a:pPr algn="l">
              <a:lnSpc>
                <a:spcPts val="3132"/>
              </a:lnSpc>
            </a:pPr>
          </a:p>
          <a:p>
            <a:pPr algn="l" marL="520215" indent="-260107" lvl="1">
              <a:lnSpc>
                <a:spcPts val="3132"/>
              </a:lnSpc>
              <a:buFont typeface="Arial"/>
              <a:buChar char="•"/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Presence of missing </a:t>
            </a:r>
          </a:p>
          <a:p>
            <a:pPr algn="l">
              <a:lnSpc>
                <a:spcPts val="3132"/>
              </a:lnSpc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values</a:t>
            </a:r>
          </a:p>
          <a:p>
            <a:pPr algn="l">
              <a:lnSpc>
                <a:spcPts val="3132"/>
              </a:lnSpc>
            </a:pPr>
          </a:p>
          <a:p>
            <a:pPr algn="l" marL="520215" indent="-260107" lvl="1">
              <a:lnSpc>
                <a:spcPts val="3132"/>
              </a:lnSpc>
              <a:buFont typeface="Arial"/>
              <a:buChar char="•"/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Presence of duplicates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49189" y="3767679"/>
            <a:ext cx="5663996" cy="351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</a:p>
          <a:p>
            <a:pPr algn="l">
              <a:lnSpc>
                <a:spcPts val="3132"/>
              </a:lnSpc>
            </a:pPr>
          </a:p>
          <a:p>
            <a:pPr algn="l" marL="520215" indent="-260107" lvl="1">
              <a:lnSpc>
                <a:spcPts val="3132"/>
              </a:lnSpc>
              <a:buFont typeface="Arial"/>
              <a:buChar char="•"/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Use Case type is</a:t>
            </a:r>
          </a:p>
          <a:p>
            <a:pPr algn="l">
              <a:lnSpc>
                <a:spcPts val="3132"/>
              </a:lnSpc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strongly correlated </a:t>
            </a:r>
          </a:p>
          <a:p>
            <a:pPr algn="l">
              <a:lnSpc>
                <a:spcPts val="3132"/>
              </a:lnSpc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</a:t>
            </a: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with slice type</a:t>
            </a:r>
          </a:p>
          <a:p>
            <a:pPr algn="l">
              <a:lnSpc>
                <a:spcPts val="3132"/>
              </a:lnSpc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=&gt; The data will be biaised</a:t>
            </a:r>
          </a:p>
          <a:p>
            <a:pPr algn="l">
              <a:lnSpc>
                <a:spcPts val="3132"/>
              </a:lnSpc>
            </a:pPr>
          </a:p>
          <a:p>
            <a:pPr algn="l" marL="520215" indent="-260107" lvl="1">
              <a:lnSpc>
                <a:spcPts val="3132"/>
              </a:lnSpc>
              <a:buFont typeface="Arial"/>
              <a:buChar char="•"/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features are </a:t>
            </a:r>
          </a:p>
          <a:p>
            <a:pPr algn="l">
              <a:lnSpc>
                <a:spcPts val="3132"/>
              </a:lnSpc>
            </a:pPr>
            <a:r>
              <a:rPr lang="en-US" b="true" sz="2409">
                <a:solidFill>
                  <a:srgbClr val="1C014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not of the same type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73639" y="255906"/>
            <a:ext cx="8576449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-374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 exploration 6G (quick recap)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7939930">
            <a:off x="-841179" y="8253544"/>
            <a:ext cx="3461041" cy="4357815"/>
          </a:xfrm>
          <a:custGeom>
            <a:avLst/>
            <a:gdLst/>
            <a:ahLst/>
            <a:cxnLst/>
            <a:rect r="r" b="b" t="t" l="l"/>
            <a:pathLst>
              <a:path h="4357815" w="3461041">
                <a:moveTo>
                  <a:pt x="0" y="0"/>
                </a:moveTo>
                <a:lnTo>
                  <a:pt x="3461041" y="0"/>
                </a:lnTo>
                <a:lnTo>
                  <a:pt x="3461041" y="4357814"/>
                </a:lnTo>
                <a:lnTo>
                  <a:pt x="0" y="43578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9342" y="-215007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9517" y="1028700"/>
            <a:ext cx="6310432" cy="7648937"/>
            <a:chOff x="0" y="0"/>
            <a:chExt cx="660400" cy="800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00477"/>
            </a:xfrm>
            <a:custGeom>
              <a:avLst/>
              <a:gdLst/>
              <a:ahLst/>
              <a:cxnLst/>
              <a:rect r="r" b="b" t="t" l="l"/>
              <a:pathLst>
                <a:path h="80047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228"/>
                  </a:cubicBezTo>
                  <a:lnTo>
                    <a:pt x="660400" y="800477"/>
                  </a:lnTo>
                  <a:lnTo>
                    <a:pt x="0" y="800477"/>
                  </a:lnTo>
                  <a:lnTo>
                    <a:pt x="0" y="32857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A4D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89342" y="2897886"/>
            <a:ext cx="6517890" cy="4965447"/>
          </a:xfrm>
          <a:custGeom>
            <a:avLst/>
            <a:gdLst/>
            <a:ahLst/>
            <a:cxnLst/>
            <a:rect r="r" b="b" t="t" l="l"/>
            <a:pathLst>
              <a:path h="4965447" w="6517890">
                <a:moveTo>
                  <a:pt x="0" y="0"/>
                </a:moveTo>
                <a:lnTo>
                  <a:pt x="6517890" y="0"/>
                </a:lnTo>
                <a:lnTo>
                  <a:pt x="6517890" y="4965447"/>
                </a:lnTo>
                <a:lnTo>
                  <a:pt x="0" y="4965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29931" y="4048043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74344">
            <a:off x="14186450" y="-1020110"/>
            <a:ext cx="4342658" cy="5467863"/>
          </a:xfrm>
          <a:custGeom>
            <a:avLst/>
            <a:gdLst/>
            <a:ahLst/>
            <a:cxnLst/>
            <a:rect r="r" b="b" t="t" l="l"/>
            <a:pathLst>
              <a:path h="5467863" w="4342658">
                <a:moveTo>
                  <a:pt x="0" y="0"/>
                </a:moveTo>
                <a:lnTo>
                  <a:pt x="4342658" y="0"/>
                </a:lnTo>
                <a:lnTo>
                  <a:pt x="4342658" y="5467864"/>
                </a:lnTo>
                <a:lnTo>
                  <a:pt x="0" y="5467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939930">
            <a:off x="-841179" y="8253544"/>
            <a:ext cx="3461041" cy="4357815"/>
          </a:xfrm>
          <a:custGeom>
            <a:avLst/>
            <a:gdLst/>
            <a:ahLst/>
            <a:cxnLst/>
            <a:rect r="r" b="b" t="t" l="l"/>
            <a:pathLst>
              <a:path h="4357815" w="3461041">
                <a:moveTo>
                  <a:pt x="0" y="0"/>
                </a:moveTo>
                <a:lnTo>
                  <a:pt x="3461041" y="0"/>
                </a:lnTo>
                <a:lnTo>
                  <a:pt x="3461041" y="4357814"/>
                </a:lnTo>
                <a:lnTo>
                  <a:pt x="0" y="4357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51781" y="743316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28286" y="8596174"/>
            <a:ext cx="929493" cy="1022578"/>
          </a:xfrm>
          <a:custGeom>
            <a:avLst/>
            <a:gdLst/>
            <a:ahLst/>
            <a:cxnLst/>
            <a:rect r="r" b="b" t="t" l="l"/>
            <a:pathLst>
              <a:path h="1022578" w="929493">
                <a:moveTo>
                  <a:pt x="0" y="0"/>
                </a:moveTo>
                <a:lnTo>
                  <a:pt x="929493" y="0"/>
                </a:lnTo>
                <a:lnTo>
                  <a:pt x="929493" y="1022578"/>
                </a:lnTo>
                <a:lnTo>
                  <a:pt x="0" y="1022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49769" y="4278411"/>
            <a:ext cx="6764504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Datascience objective n ° 1 Predict network congestion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9769" y="7861082"/>
            <a:ext cx="614526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6G Dataset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878" y="670425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6899" y="1632557"/>
            <a:ext cx="702156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Network Classification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40878" y="4054785"/>
            <a:ext cx="14511487" cy="3111412"/>
            <a:chOff x="0" y="0"/>
            <a:chExt cx="3821955" cy="819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21955" cy="819467"/>
            </a:xfrm>
            <a:custGeom>
              <a:avLst/>
              <a:gdLst/>
              <a:ahLst/>
              <a:cxnLst/>
              <a:rect r="r" b="b" t="t" l="l"/>
              <a:pathLst>
                <a:path h="819467" w="3821955">
                  <a:moveTo>
                    <a:pt x="10137" y="0"/>
                  </a:moveTo>
                  <a:lnTo>
                    <a:pt x="3811819" y="0"/>
                  </a:lnTo>
                  <a:cubicBezTo>
                    <a:pt x="3814507" y="0"/>
                    <a:pt x="3817086" y="1068"/>
                    <a:pt x="3818987" y="2969"/>
                  </a:cubicBezTo>
                  <a:cubicBezTo>
                    <a:pt x="3820888" y="4870"/>
                    <a:pt x="3821955" y="7448"/>
                    <a:pt x="3821955" y="10137"/>
                  </a:cubicBezTo>
                  <a:lnTo>
                    <a:pt x="3821955" y="809330"/>
                  </a:lnTo>
                  <a:cubicBezTo>
                    <a:pt x="3821955" y="812018"/>
                    <a:pt x="3820888" y="814597"/>
                    <a:pt x="3818987" y="816498"/>
                  </a:cubicBezTo>
                  <a:cubicBezTo>
                    <a:pt x="3817086" y="818399"/>
                    <a:pt x="3814507" y="819467"/>
                    <a:pt x="3811819" y="819467"/>
                  </a:cubicBezTo>
                  <a:lnTo>
                    <a:pt x="10137" y="819467"/>
                  </a:lnTo>
                  <a:cubicBezTo>
                    <a:pt x="7448" y="819467"/>
                    <a:pt x="4870" y="818399"/>
                    <a:pt x="2969" y="816498"/>
                  </a:cubicBezTo>
                  <a:cubicBezTo>
                    <a:pt x="1068" y="814597"/>
                    <a:pt x="0" y="812018"/>
                    <a:pt x="0" y="809330"/>
                  </a:cubicBezTo>
                  <a:lnTo>
                    <a:pt x="0" y="10137"/>
                  </a:lnTo>
                  <a:cubicBezTo>
                    <a:pt x="0" y="7448"/>
                    <a:pt x="1068" y="4870"/>
                    <a:pt x="2969" y="2969"/>
                  </a:cubicBezTo>
                  <a:cubicBezTo>
                    <a:pt x="4870" y="1068"/>
                    <a:pt x="7448" y="0"/>
                    <a:pt x="10137" y="0"/>
                  </a:cubicBezTo>
                  <a:close/>
                </a:path>
              </a:pathLst>
            </a:custGeom>
            <a:solidFill>
              <a:srgbClr val="FFF8ED"/>
            </a:solidFill>
            <a:ln w="38100" cap="sq">
              <a:solidFill>
                <a:srgbClr val="DAB28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821955" cy="876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49842" y="4892869"/>
            <a:ext cx="13835679" cy="313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9"/>
              </a:lnSpc>
              <a:spcBef>
                <a:spcPct val="0"/>
              </a:spcBef>
            </a:pPr>
            <a:r>
              <a:rPr lang="en-US" sz="42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goal is to predict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the con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tat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of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network slice 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befo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it cau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ses 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any 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ervice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degradation</a:t>
            </a:r>
            <a:r>
              <a:rPr lang="en-US" sz="4235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ctr" marL="0" indent="0" lvl="0">
              <a:lnSpc>
                <a:spcPts val="661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6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6899" y="1802737"/>
            <a:ext cx="702156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 classes we use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7856" y="4399005"/>
            <a:ext cx="5287777" cy="2242338"/>
            <a:chOff x="0" y="0"/>
            <a:chExt cx="829754" cy="3518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9754" cy="351866"/>
            </a:xfrm>
            <a:custGeom>
              <a:avLst/>
              <a:gdLst/>
              <a:ahLst/>
              <a:cxnLst/>
              <a:rect r="r" b="b" t="t" l="l"/>
              <a:pathLst>
                <a:path h="351866" w="829754">
                  <a:moveTo>
                    <a:pt x="51244" y="0"/>
                  </a:moveTo>
                  <a:lnTo>
                    <a:pt x="778510" y="0"/>
                  </a:lnTo>
                  <a:cubicBezTo>
                    <a:pt x="792101" y="0"/>
                    <a:pt x="805135" y="5399"/>
                    <a:pt x="814745" y="15009"/>
                  </a:cubicBezTo>
                  <a:cubicBezTo>
                    <a:pt x="824355" y="24619"/>
                    <a:pt x="829754" y="37653"/>
                    <a:pt x="829754" y="51244"/>
                  </a:cubicBezTo>
                  <a:lnTo>
                    <a:pt x="829754" y="300622"/>
                  </a:lnTo>
                  <a:cubicBezTo>
                    <a:pt x="829754" y="328923"/>
                    <a:pt x="806811" y="351866"/>
                    <a:pt x="778510" y="351866"/>
                  </a:cubicBezTo>
                  <a:lnTo>
                    <a:pt x="51244" y="351866"/>
                  </a:lnTo>
                  <a:cubicBezTo>
                    <a:pt x="37653" y="351866"/>
                    <a:pt x="24619" y="346467"/>
                    <a:pt x="15009" y="336857"/>
                  </a:cubicBezTo>
                  <a:cubicBezTo>
                    <a:pt x="5399" y="327247"/>
                    <a:pt x="0" y="314213"/>
                    <a:pt x="0" y="300622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578464" y="4399005"/>
            <a:ext cx="5287777" cy="2242338"/>
            <a:chOff x="0" y="0"/>
            <a:chExt cx="829754" cy="3518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9754" cy="351866"/>
            </a:xfrm>
            <a:custGeom>
              <a:avLst/>
              <a:gdLst/>
              <a:ahLst/>
              <a:cxnLst/>
              <a:rect r="r" b="b" t="t" l="l"/>
              <a:pathLst>
                <a:path h="351866" w="829754">
                  <a:moveTo>
                    <a:pt x="51244" y="0"/>
                  </a:moveTo>
                  <a:lnTo>
                    <a:pt x="778510" y="0"/>
                  </a:lnTo>
                  <a:cubicBezTo>
                    <a:pt x="792101" y="0"/>
                    <a:pt x="805135" y="5399"/>
                    <a:pt x="814745" y="15009"/>
                  </a:cubicBezTo>
                  <a:cubicBezTo>
                    <a:pt x="824355" y="24619"/>
                    <a:pt x="829754" y="37653"/>
                    <a:pt x="829754" y="51244"/>
                  </a:cubicBezTo>
                  <a:lnTo>
                    <a:pt x="829754" y="300622"/>
                  </a:lnTo>
                  <a:cubicBezTo>
                    <a:pt x="829754" y="328923"/>
                    <a:pt x="806811" y="351866"/>
                    <a:pt x="778510" y="351866"/>
                  </a:cubicBezTo>
                  <a:lnTo>
                    <a:pt x="51244" y="351866"/>
                  </a:lnTo>
                  <a:cubicBezTo>
                    <a:pt x="37653" y="351866"/>
                    <a:pt x="24619" y="346467"/>
                    <a:pt x="15009" y="336857"/>
                  </a:cubicBezTo>
                  <a:cubicBezTo>
                    <a:pt x="5399" y="327247"/>
                    <a:pt x="0" y="314213"/>
                    <a:pt x="0" y="300622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00111" y="4399005"/>
            <a:ext cx="5287777" cy="2242338"/>
            <a:chOff x="0" y="0"/>
            <a:chExt cx="829754" cy="351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9754" cy="351866"/>
            </a:xfrm>
            <a:custGeom>
              <a:avLst/>
              <a:gdLst/>
              <a:ahLst/>
              <a:cxnLst/>
              <a:rect r="r" b="b" t="t" l="l"/>
              <a:pathLst>
                <a:path h="351866" w="829754">
                  <a:moveTo>
                    <a:pt x="51244" y="0"/>
                  </a:moveTo>
                  <a:lnTo>
                    <a:pt x="778510" y="0"/>
                  </a:lnTo>
                  <a:cubicBezTo>
                    <a:pt x="792101" y="0"/>
                    <a:pt x="805135" y="5399"/>
                    <a:pt x="814745" y="15009"/>
                  </a:cubicBezTo>
                  <a:cubicBezTo>
                    <a:pt x="824355" y="24619"/>
                    <a:pt x="829754" y="37653"/>
                    <a:pt x="829754" y="51244"/>
                  </a:cubicBezTo>
                  <a:lnTo>
                    <a:pt x="829754" y="300622"/>
                  </a:lnTo>
                  <a:cubicBezTo>
                    <a:pt x="829754" y="328923"/>
                    <a:pt x="806811" y="351866"/>
                    <a:pt x="778510" y="351866"/>
                  </a:cubicBezTo>
                  <a:lnTo>
                    <a:pt x="51244" y="351866"/>
                  </a:lnTo>
                  <a:cubicBezTo>
                    <a:pt x="37653" y="351866"/>
                    <a:pt x="24619" y="346467"/>
                    <a:pt x="15009" y="336857"/>
                  </a:cubicBezTo>
                  <a:cubicBezTo>
                    <a:pt x="5399" y="327247"/>
                    <a:pt x="0" y="314213"/>
                    <a:pt x="0" y="300622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17856" y="5057775"/>
            <a:ext cx="5302860" cy="81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= Normal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63381" y="4647685"/>
            <a:ext cx="5302860" cy="165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= Critical congestion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0111" y="4647685"/>
            <a:ext cx="5302860" cy="165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= Light congestion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600" y="333384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2373" y="752956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47893" y="990600"/>
            <a:ext cx="7021565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Chosen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4935" y="2500746"/>
            <a:ext cx="16108260" cy="6757554"/>
            <a:chOff x="0" y="0"/>
            <a:chExt cx="21477680" cy="901007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477680" cy="9010072"/>
              <a:chOff x="0" y="0"/>
              <a:chExt cx="1934629" cy="81159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4630" cy="811594"/>
              </a:xfrm>
              <a:custGeom>
                <a:avLst/>
                <a:gdLst/>
                <a:ahLst/>
                <a:cxnLst/>
                <a:rect r="r" b="b" t="t" l="l"/>
                <a:pathLst>
                  <a:path h="811594" w="1934630">
                    <a:moveTo>
                      <a:pt x="21699" y="0"/>
                    </a:moveTo>
                    <a:lnTo>
                      <a:pt x="1912930" y="0"/>
                    </a:lnTo>
                    <a:cubicBezTo>
                      <a:pt x="1924914" y="0"/>
                      <a:pt x="1934630" y="9715"/>
                      <a:pt x="1934630" y="21699"/>
                    </a:cubicBezTo>
                    <a:lnTo>
                      <a:pt x="1934630" y="789895"/>
                    </a:lnTo>
                    <a:cubicBezTo>
                      <a:pt x="1934630" y="801879"/>
                      <a:pt x="1924914" y="811594"/>
                      <a:pt x="1912930" y="811594"/>
                    </a:cubicBezTo>
                    <a:lnTo>
                      <a:pt x="21699" y="811594"/>
                    </a:lnTo>
                    <a:cubicBezTo>
                      <a:pt x="15944" y="811594"/>
                      <a:pt x="10425" y="809308"/>
                      <a:pt x="6356" y="805238"/>
                    </a:cubicBezTo>
                    <a:cubicBezTo>
                      <a:pt x="2286" y="801169"/>
                      <a:pt x="0" y="795649"/>
                      <a:pt x="0" y="789895"/>
                    </a:cubicBezTo>
                    <a:lnTo>
                      <a:pt x="0" y="21699"/>
                    </a:lnTo>
                    <a:cubicBezTo>
                      <a:pt x="0" y="9715"/>
                      <a:pt x="9715" y="0"/>
                      <a:pt x="21699" y="0"/>
                    </a:cubicBezTo>
                    <a:close/>
                  </a:path>
                </a:pathLst>
              </a:custGeom>
              <a:solidFill>
                <a:srgbClr val="FFF8ED"/>
              </a:solidFill>
              <a:ln w="38100" cap="rnd">
                <a:solidFill>
                  <a:srgbClr val="00BF63"/>
                </a:solidFill>
                <a:prstDash val="solid"/>
                <a:round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02599" y="434700"/>
              <a:ext cx="4847925" cy="2224213"/>
              <a:chOff x="0" y="0"/>
              <a:chExt cx="436683" cy="20034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5F9345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558963" y="2941757"/>
              <a:ext cx="4847925" cy="5325723"/>
              <a:chOff x="0" y="0"/>
              <a:chExt cx="436683" cy="47972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6683" cy="479721"/>
              </a:xfrm>
              <a:custGeom>
                <a:avLst/>
                <a:gdLst/>
                <a:ahLst/>
                <a:cxnLst/>
                <a:rect r="r" b="b" t="t" l="l"/>
                <a:pathLst>
                  <a:path h="47972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383588"/>
                    </a:lnTo>
                    <a:cubicBezTo>
                      <a:pt x="436683" y="436681"/>
                      <a:pt x="393643" y="479721"/>
                      <a:pt x="340549" y="479721"/>
                    </a:cubicBezTo>
                    <a:lnTo>
                      <a:pt x="96134" y="479721"/>
                    </a:lnTo>
                    <a:cubicBezTo>
                      <a:pt x="43040" y="479721"/>
                      <a:pt x="0" y="436681"/>
                      <a:pt x="0" y="383588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5527007" y="434700"/>
              <a:ext cx="4847925" cy="2224213"/>
              <a:chOff x="0" y="0"/>
              <a:chExt cx="436683" cy="20034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5F9345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0551415" y="434700"/>
              <a:ext cx="4847925" cy="2224213"/>
              <a:chOff x="0" y="0"/>
              <a:chExt cx="436683" cy="20034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36683" cy="200349"/>
              </a:xfrm>
              <a:custGeom>
                <a:avLst/>
                <a:gdLst/>
                <a:ahLst/>
                <a:cxnLst/>
                <a:rect r="r" b="b" t="t" l="l"/>
                <a:pathLst>
                  <a:path h="200349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104215"/>
                    </a:lnTo>
                    <a:cubicBezTo>
                      <a:pt x="436683" y="157308"/>
                      <a:pt x="393643" y="200349"/>
                      <a:pt x="340549" y="200349"/>
                    </a:cubicBezTo>
                    <a:lnTo>
                      <a:pt x="96134" y="200349"/>
                    </a:lnTo>
                    <a:cubicBezTo>
                      <a:pt x="43040" y="200349"/>
                      <a:pt x="0" y="157308"/>
                      <a:pt x="0" y="104215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5F9345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5530831" y="2919937"/>
              <a:ext cx="4847925" cy="5325723"/>
              <a:chOff x="0" y="0"/>
              <a:chExt cx="436683" cy="47972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6683" cy="479721"/>
              </a:xfrm>
              <a:custGeom>
                <a:avLst/>
                <a:gdLst/>
                <a:ahLst/>
                <a:cxnLst/>
                <a:rect r="r" b="b" t="t" l="l"/>
                <a:pathLst>
                  <a:path h="47972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383588"/>
                    </a:lnTo>
                    <a:cubicBezTo>
                      <a:pt x="436683" y="436681"/>
                      <a:pt x="393643" y="479721"/>
                      <a:pt x="340549" y="479721"/>
                    </a:cubicBezTo>
                    <a:lnTo>
                      <a:pt x="96134" y="479721"/>
                    </a:lnTo>
                    <a:cubicBezTo>
                      <a:pt x="43040" y="479721"/>
                      <a:pt x="0" y="436681"/>
                      <a:pt x="0" y="383588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0248" y="2919937"/>
              <a:ext cx="4847925" cy="5325723"/>
              <a:chOff x="0" y="0"/>
              <a:chExt cx="436683" cy="47972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36683" cy="479721"/>
              </a:xfrm>
              <a:custGeom>
                <a:avLst/>
                <a:gdLst/>
                <a:ahLst/>
                <a:cxnLst/>
                <a:rect r="r" b="b" t="t" l="l"/>
                <a:pathLst>
                  <a:path h="479721" w="436683">
                    <a:moveTo>
                      <a:pt x="96134" y="0"/>
                    </a:moveTo>
                    <a:lnTo>
                      <a:pt x="340549" y="0"/>
                    </a:lnTo>
                    <a:cubicBezTo>
                      <a:pt x="393643" y="0"/>
                      <a:pt x="436683" y="43040"/>
                      <a:pt x="436683" y="96134"/>
                    </a:cubicBezTo>
                    <a:lnTo>
                      <a:pt x="436683" y="383588"/>
                    </a:lnTo>
                    <a:cubicBezTo>
                      <a:pt x="436683" y="436681"/>
                      <a:pt x="393643" y="479721"/>
                      <a:pt x="340549" y="479721"/>
                    </a:cubicBezTo>
                    <a:lnTo>
                      <a:pt x="96134" y="479721"/>
                    </a:lnTo>
                    <a:cubicBezTo>
                      <a:pt x="43040" y="479721"/>
                      <a:pt x="0" y="436681"/>
                      <a:pt x="0" y="383588"/>
                    </a:cubicBezTo>
                    <a:lnTo>
                      <a:pt x="0" y="96134"/>
                    </a:lnTo>
                    <a:cubicBezTo>
                      <a:pt x="0" y="43040"/>
                      <a:pt x="43040" y="0"/>
                      <a:pt x="96134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727604" y="536533"/>
              <a:ext cx="4630568" cy="2122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01"/>
                </a:lnSpc>
                <a:spcBef>
                  <a:spcPct val="0"/>
                </a:spcBef>
              </a:pPr>
              <a:r>
                <a:rPr lang="en-US" b="true" sz="4643" strike="noStrike" u="non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Logistic Regression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945154" y="981379"/>
              <a:ext cx="4075542" cy="103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1"/>
                </a:lnSpc>
                <a:spcBef>
                  <a:spcPct val="0"/>
                </a:spcBef>
              </a:pPr>
              <a:r>
                <a:rPr lang="en-US" b="true" sz="4643" strike="noStrike" u="non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XGBoost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85620" y="5007890"/>
              <a:ext cx="3897181" cy="846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00"/>
                </a:lnSpc>
                <a:spcBef>
                  <a:spcPct val="0"/>
                </a:spcBef>
              </a:pPr>
              <a:r>
                <a:rPr lang="en-US" sz="3785" strike="noStrike" u="none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Fast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920797" y="4249500"/>
              <a:ext cx="4075542" cy="2624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00"/>
                </a:lnSpc>
                <a:spcBef>
                  <a:spcPct val="0"/>
                </a:spcBef>
              </a:pPr>
              <a:r>
                <a:rPr lang="en-US" sz="3785" strike="noStrike" u="none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Robust </a:t>
              </a:r>
            </a:p>
            <a:p>
              <a:pPr algn="ctr" marL="0" indent="0" lvl="0">
                <a:lnSpc>
                  <a:spcPts val="5300"/>
                </a:lnSpc>
                <a:spcBef>
                  <a:spcPct val="0"/>
                </a:spcBef>
              </a:pPr>
              <a:r>
                <a:rPr lang="en-US" sz="3785" strike="noStrike" u="none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to </a:t>
              </a:r>
            </a:p>
            <a:p>
              <a:pPr algn="ctr" marL="0" indent="0" lvl="0">
                <a:lnSpc>
                  <a:spcPts val="5300"/>
                </a:lnSpc>
                <a:spcBef>
                  <a:spcPct val="0"/>
                </a:spcBef>
              </a:pPr>
              <a:r>
                <a:rPr lang="en-US" sz="3785" strike="noStrike" u="none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outliers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752059" y="4563390"/>
              <a:ext cx="4461733" cy="1735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00"/>
                </a:lnSpc>
                <a:spcBef>
                  <a:spcPct val="0"/>
                </a:spcBef>
              </a:pPr>
              <a:r>
                <a:rPr lang="en-US" sz="3785" strike="noStrike" u="none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Handles Non linearity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268474" y="788793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3569458" y="4629931"/>
            <a:ext cx="3635943" cy="3994292"/>
            <a:chOff x="0" y="0"/>
            <a:chExt cx="436683" cy="47972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6683" cy="479721"/>
            </a:xfrm>
            <a:custGeom>
              <a:avLst/>
              <a:gdLst/>
              <a:ahLst/>
              <a:cxnLst/>
              <a:rect r="r" b="b" t="t" l="l"/>
              <a:pathLst>
                <a:path h="479721" w="436683">
                  <a:moveTo>
                    <a:pt x="95817" y="0"/>
                  </a:moveTo>
                  <a:lnTo>
                    <a:pt x="340866" y="0"/>
                  </a:lnTo>
                  <a:cubicBezTo>
                    <a:pt x="393784" y="0"/>
                    <a:pt x="436683" y="42899"/>
                    <a:pt x="436683" y="95817"/>
                  </a:cubicBezTo>
                  <a:lnTo>
                    <a:pt x="436683" y="383904"/>
                  </a:lnTo>
                  <a:cubicBezTo>
                    <a:pt x="436683" y="409316"/>
                    <a:pt x="426588" y="433688"/>
                    <a:pt x="408619" y="451657"/>
                  </a:cubicBezTo>
                  <a:cubicBezTo>
                    <a:pt x="390650" y="469626"/>
                    <a:pt x="366278" y="479721"/>
                    <a:pt x="340866" y="479721"/>
                  </a:cubicBezTo>
                  <a:lnTo>
                    <a:pt x="95817" y="479721"/>
                  </a:lnTo>
                  <a:cubicBezTo>
                    <a:pt x="42899" y="479721"/>
                    <a:pt x="0" y="436822"/>
                    <a:pt x="0" y="383904"/>
                  </a:cubicBezTo>
                  <a:lnTo>
                    <a:pt x="0" y="95817"/>
                  </a:lnTo>
                  <a:cubicBezTo>
                    <a:pt x="0" y="70405"/>
                    <a:pt x="10095" y="46033"/>
                    <a:pt x="28064" y="28064"/>
                  </a:cubicBezTo>
                  <a:cubicBezTo>
                    <a:pt x="46033" y="10095"/>
                    <a:pt x="70405" y="0"/>
                    <a:pt x="95817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569458" y="2893978"/>
            <a:ext cx="3635943" cy="1668160"/>
            <a:chOff x="0" y="0"/>
            <a:chExt cx="436683" cy="2003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6683" cy="200349"/>
            </a:xfrm>
            <a:custGeom>
              <a:avLst/>
              <a:gdLst/>
              <a:ahLst/>
              <a:cxnLst/>
              <a:rect r="r" b="b" t="t" l="l"/>
              <a:pathLst>
                <a:path h="200349" w="436683">
                  <a:moveTo>
                    <a:pt x="95817" y="0"/>
                  </a:moveTo>
                  <a:lnTo>
                    <a:pt x="340866" y="0"/>
                  </a:lnTo>
                  <a:cubicBezTo>
                    <a:pt x="393784" y="0"/>
                    <a:pt x="436683" y="42899"/>
                    <a:pt x="436683" y="95817"/>
                  </a:cubicBezTo>
                  <a:lnTo>
                    <a:pt x="436683" y="104532"/>
                  </a:lnTo>
                  <a:cubicBezTo>
                    <a:pt x="436683" y="157450"/>
                    <a:pt x="393784" y="200349"/>
                    <a:pt x="340866" y="200349"/>
                  </a:cubicBezTo>
                  <a:lnTo>
                    <a:pt x="95817" y="200349"/>
                  </a:lnTo>
                  <a:cubicBezTo>
                    <a:pt x="70405" y="200349"/>
                    <a:pt x="46033" y="190254"/>
                    <a:pt x="28064" y="172285"/>
                  </a:cubicBezTo>
                  <a:cubicBezTo>
                    <a:pt x="10095" y="154315"/>
                    <a:pt x="0" y="129944"/>
                    <a:pt x="0" y="104532"/>
                  </a:cubicBezTo>
                  <a:lnTo>
                    <a:pt x="0" y="95817"/>
                  </a:lnTo>
                  <a:cubicBezTo>
                    <a:pt x="0" y="70405"/>
                    <a:pt x="10095" y="46033"/>
                    <a:pt x="28064" y="28064"/>
                  </a:cubicBezTo>
                  <a:cubicBezTo>
                    <a:pt x="46033" y="10095"/>
                    <a:pt x="70405" y="0"/>
                    <a:pt x="95817" y="0"/>
                  </a:cubicBezTo>
                  <a:close/>
                </a:path>
              </a:pathLst>
            </a:custGeom>
            <a:solidFill>
              <a:srgbClr val="5F934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859101" y="2868565"/>
            <a:ext cx="3056657" cy="161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1"/>
              </a:lnSpc>
            </a:pPr>
            <a:r>
              <a:rPr lang="en-US" sz="4643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Gradient Boosting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87343" y="2868565"/>
            <a:ext cx="3056657" cy="162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1"/>
              </a:lnSpc>
            </a:pPr>
            <a:r>
              <a:rPr lang="en-US" sz="4643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Random forest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14279" y="5922682"/>
            <a:ext cx="3346300" cy="132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3785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Strong Generalization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2679" y="333384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1571" y="250514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3783" y="393739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22149" y="8989184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004576">
            <a:off x="15902081" y="67496"/>
            <a:ext cx="2780866" cy="2654463"/>
          </a:xfrm>
          <a:custGeom>
            <a:avLst/>
            <a:gdLst/>
            <a:ahLst/>
            <a:cxnLst/>
            <a:rect r="r" b="b" t="t" l="l"/>
            <a:pathLst>
              <a:path h="2654463" w="2780866">
                <a:moveTo>
                  <a:pt x="0" y="0"/>
                </a:moveTo>
                <a:lnTo>
                  <a:pt x="2780866" y="0"/>
                </a:lnTo>
                <a:lnTo>
                  <a:pt x="2780866" y="2654463"/>
                </a:lnTo>
                <a:lnTo>
                  <a:pt x="0" y="2654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39724" y="1113249"/>
            <a:ext cx="8701883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⚠️ Data Leakage Detected &amp; Fixed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79434" y="6401908"/>
            <a:ext cx="6986176" cy="2554594"/>
            <a:chOff x="0" y="0"/>
            <a:chExt cx="9314901" cy="340612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314901" cy="3406126"/>
              <a:chOff x="0" y="0"/>
              <a:chExt cx="657431" cy="24039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57431" cy="240399"/>
              </a:xfrm>
              <a:custGeom>
                <a:avLst/>
                <a:gdLst/>
                <a:ahLst/>
                <a:cxnLst/>
                <a:rect r="r" b="b" t="t" l="l"/>
                <a:pathLst>
                  <a:path h="240399" w="657431">
                    <a:moveTo>
                      <a:pt x="38786" y="0"/>
                    </a:moveTo>
                    <a:lnTo>
                      <a:pt x="618645" y="0"/>
                    </a:lnTo>
                    <a:cubicBezTo>
                      <a:pt x="640066" y="0"/>
                      <a:pt x="657431" y="17365"/>
                      <a:pt x="657431" y="38786"/>
                    </a:cubicBezTo>
                    <a:lnTo>
                      <a:pt x="657431" y="201613"/>
                    </a:lnTo>
                    <a:cubicBezTo>
                      <a:pt x="657431" y="223034"/>
                      <a:pt x="640066" y="240399"/>
                      <a:pt x="618645" y="240399"/>
                    </a:cubicBezTo>
                    <a:lnTo>
                      <a:pt x="38786" y="240399"/>
                    </a:lnTo>
                    <a:cubicBezTo>
                      <a:pt x="17365" y="240399"/>
                      <a:pt x="0" y="223034"/>
                      <a:pt x="0" y="201613"/>
                    </a:cubicBezTo>
                    <a:lnTo>
                      <a:pt x="0" y="38786"/>
                    </a:lnTo>
                    <a:cubicBezTo>
                      <a:pt x="0" y="17365"/>
                      <a:pt x="17365" y="0"/>
                      <a:pt x="38786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378896" y="294420"/>
              <a:ext cx="8629961" cy="2351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After correction: Logistic Regression reaches ~84% and XGBoost reaches ~97.5%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5944" y="4610691"/>
            <a:ext cx="7052539" cy="1543050"/>
            <a:chOff x="0" y="0"/>
            <a:chExt cx="1857459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57459" cy="406400"/>
            </a:xfrm>
            <a:custGeom>
              <a:avLst/>
              <a:gdLst/>
              <a:ahLst/>
              <a:cxnLst/>
              <a:rect r="r" b="b" t="t" l="l"/>
              <a:pathLst>
                <a:path h="406400" w="1857459">
                  <a:moveTo>
                    <a:pt x="55985" y="0"/>
                  </a:moveTo>
                  <a:lnTo>
                    <a:pt x="1801474" y="0"/>
                  </a:lnTo>
                  <a:cubicBezTo>
                    <a:pt x="1816322" y="0"/>
                    <a:pt x="1830562" y="5898"/>
                    <a:pt x="1841061" y="16398"/>
                  </a:cubicBezTo>
                  <a:cubicBezTo>
                    <a:pt x="1851560" y="26897"/>
                    <a:pt x="1857459" y="41137"/>
                    <a:pt x="1857459" y="55985"/>
                  </a:cubicBezTo>
                  <a:lnTo>
                    <a:pt x="1857459" y="350415"/>
                  </a:lnTo>
                  <a:cubicBezTo>
                    <a:pt x="1857459" y="365263"/>
                    <a:pt x="1851560" y="379503"/>
                    <a:pt x="1841061" y="390002"/>
                  </a:cubicBezTo>
                  <a:cubicBezTo>
                    <a:pt x="1830562" y="400502"/>
                    <a:pt x="1816322" y="406400"/>
                    <a:pt x="1801474" y="406400"/>
                  </a:cubicBezTo>
                  <a:lnTo>
                    <a:pt x="55985" y="406400"/>
                  </a:lnTo>
                  <a:cubicBezTo>
                    <a:pt x="41137" y="406400"/>
                    <a:pt x="26897" y="400502"/>
                    <a:pt x="16398" y="390002"/>
                  </a:cubicBezTo>
                  <a:cubicBezTo>
                    <a:pt x="5898" y="379503"/>
                    <a:pt x="0" y="365263"/>
                    <a:pt x="0" y="350415"/>
                  </a:cubicBezTo>
                  <a:lnTo>
                    <a:pt x="0" y="55985"/>
                  </a:lnTo>
                  <a:cubicBezTo>
                    <a:pt x="0" y="41137"/>
                    <a:pt x="5898" y="26897"/>
                    <a:pt x="16398" y="16398"/>
                  </a:cubicBezTo>
                  <a:cubicBezTo>
                    <a:pt x="26897" y="5898"/>
                    <a:pt x="41137" y="0"/>
                    <a:pt x="55985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5745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7600" y="4610691"/>
            <a:ext cx="8426120" cy="4407912"/>
            <a:chOff x="0" y="0"/>
            <a:chExt cx="11234827" cy="58772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799945" cy="5877216"/>
              <a:chOff x="0" y="0"/>
              <a:chExt cx="216502" cy="11781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6502" cy="117818"/>
              </a:xfrm>
              <a:custGeom>
                <a:avLst/>
                <a:gdLst/>
                <a:ahLst/>
                <a:cxnLst/>
                <a:rect r="r" b="b" t="t" l="l"/>
                <a:pathLst>
                  <a:path h="117818" w="216502">
                    <a:moveTo>
                      <a:pt x="58909" y="0"/>
                    </a:moveTo>
                    <a:lnTo>
                      <a:pt x="157593" y="0"/>
                    </a:lnTo>
                    <a:cubicBezTo>
                      <a:pt x="173216" y="0"/>
                      <a:pt x="188200" y="6206"/>
                      <a:pt x="199248" y="17254"/>
                    </a:cubicBezTo>
                    <a:cubicBezTo>
                      <a:pt x="210295" y="28302"/>
                      <a:pt x="216502" y="43285"/>
                      <a:pt x="216502" y="58909"/>
                    </a:cubicBezTo>
                    <a:lnTo>
                      <a:pt x="216502" y="58909"/>
                    </a:lnTo>
                    <a:cubicBezTo>
                      <a:pt x="216502" y="91444"/>
                      <a:pt x="190127" y="117818"/>
                      <a:pt x="157593" y="117818"/>
                    </a:cubicBezTo>
                    <a:lnTo>
                      <a:pt x="58909" y="117818"/>
                    </a:lnTo>
                    <a:cubicBezTo>
                      <a:pt x="26374" y="117818"/>
                      <a:pt x="0" y="91444"/>
                      <a:pt x="0" y="58909"/>
                    </a:cubicBezTo>
                    <a:lnTo>
                      <a:pt x="0" y="58909"/>
                    </a:lnTo>
                    <a:cubicBezTo>
                      <a:pt x="0" y="26374"/>
                      <a:pt x="26374" y="0"/>
                      <a:pt x="58909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9023281" y="602682"/>
              <a:ext cx="2211546" cy="2050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01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0" y="3824630"/>
            <a:ext cx="1551571" cy="1355717"/>
          </a:xfrm>
          <a:custGeom>
            <a:avLst/>
            <a:gdLst/>
            <a:ahLst/>
            <a:cxnLst/>
            <a:rect r="r" b="b" t="t" l="l"/>
            <a:pathLst>
              <a:path h="1355717" w="1551571">
                <a:moveTo>
                  <a:pt x="0" y="0"/>
                </a:moveTo>
                <a:lnTo>
                  <a:pt x="1551571" y="0"/>
                </a:lnTo>
                <a:lnTo>
                  <a:pt x="1551571" y="1355717"/>
                </a:lnTo>
                <a:lnTo>
                  <a:pt x="0" y="1355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69458" y="7887934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75786" y="5798782"/>
            <a:ext cx="7542889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First version of the notebook produced 99.9% accuracy on all 4 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61095" y="4714783"/>
            <a:ext cx="6360220" cy="126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74"/>
              </a:lnSpc>
              <a:spcBef>
                <a:spcPct val="0"/>
              </a:spcBef>
            </a:pPr>
            <a:r>
              <a:rPr lang="en-US" b="true" sz="3696" strike="noStrike" u="non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Keep only the 12 raw features.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390355" y="3160102"/>
            <a:ext cx="2540611" cy="1329056"/>
            <a:chOff x="0" y="0"/>
            <a:chExt cx="3387481" cy="177207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256357" cy="1772075"/>
              <a:chOff x="0" y="0"/>
              <a:chExt cx="216502" cy="11781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6502" cy="117818"/>
              </a:xfrm>
              <a:custGeom>
                <a:avLst/>
                <a:gdLst/>
                <a:ahLst/>
                <a:cxnLst/>
                <a:rect r="r" b="b" t="t" l="l"/>
                <a:pathLst>
                  <a:path h="117818" w="216502">
                    <a:moveTo>
                      <a:pt x="58909" y="0"/>
                    </a:moveTo>
                    <a:lnTo>
                      <a:pt x="157593" y="0"/>
                    </a:lnTo>
                    <a:cubicBezTo>
                      <a:pt x="173216" y="0"/>
                      <a:pt x="188200" y="6206"/>
                      <a:pt x="199248" y="17254"/>
                    </a:cubicBezTo>
                    <a:cubicBezTo>
                      <a:pt x="210295" y="28302"/>
                      <a:pt x="216502" y="43285"/>
                      <a:pt x="216502" y="58909"/>
                    </a:cubicBezTo>
                    <a:lnTo>
                      <a:pt x="216502" y="58909"/>
                    </a:lnTo>
                    <a:cubicBezTo>
                      <a:pt x="216502" y="91444"/>
                      <a:pt x="190127" y="117818"/>
                      <a:pt x="157593" y="117818"/>
                    </a:cubicBezTo>
                    <a:lnTo>
                      <a:pt x="58909" y="117818"/>
                    </a:lnTo>
                    <a:cubicBezTo>
                      <a:pt x="26374" y="117818"/>
                      <a:pt x="0" y="91444"/>
                      <a:pt x="0" y="58909"/>
                    </a:cubicBezTo>
                    <a:lnTo>
                      <a:pt x="0" y="58909"/>
                    </a:lnTo>
                    <a:cubicBezTo>
                      <a:pt x="0" y="26374"/>
                      <a:pt x="26374" y="0"/>
                      <a:pt x="58909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2720664" y="179135"/>
              <a:ext cx="666817" cy="620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78191" y="3173432"/>
            <a:ext cx="2540611" cy="1329056"/>
            <a:chOff x="0" y="0"/>
            <a:chExt cx="3387481" cy="177207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256357" cy="1772075"/>
              <a:chOff x="0" y="0"/>
              <a:chExt cx="216502" cy="11781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6502" cy="117818"/>
              </a:xfrm>
              <a:custGeom>
                <a:avLst/>
                <a:gdLst/>
                <a:ahLst/>
                <a:cxnLst/>
                <a:rect r="r" b="b" t="t" l="l"/>
                <a:pathLst>
                  <a:path h="117818" w="216502">
                    <a:moveTo>
                      <a:pt x="58909" y="0"/>
                    </a:moveTo>
                    <a:lnTo>
                      <a:pt x="157593" y="0"/>
                    </a:lnTo>
                    <a:cubicBezTo>
                      <a:pt x="173216" y="0"/>
                      <a:pt x="188200" y="6206"/>
                      <a:pt x="199248" y="17254"/>
                    </a:cubicBezTo>
                    <a:cubicBezTo>
                      <a:pt x="210295" y="28302"/>
                      <a:pt x="216502" y="43285"/>
                      <a:pt x="216502" y="58909"/>
                    </a:cubicBezTo>
                    <a:lnTo>
                      <a:pt x="216502" y="58909"/>
                    </a:lnTo>
                    <a:cubicBezTo>
                      <a:pt x="216502" y="91444"/>
                      <a:pt x="190127" y="117818"/>
                      <a:pt x="157593" y="117818"/>
                    </a:cubicBezTo>
                    <a:lnTo>
                      <a:pt x="58909" y="117818"/>
                    </a:lnTo>
                    <a:cubicBezTo>
                      <a:pt x="26374" y="117818"/>
                      <a:pt x="0" y="91444"/>
                      <a:pt x="0" y="58909"/>
                    </a:cubicBezTo>
                    <a:lnTo>
                      <a:pt x="0" y="58909"/>
                    </a:lnTo>
                    <a:cubicBezTo>
                      <a:pt x="0" y="26374"/>
                      <a:pt x="26374" y="0"/>
                      <a:pt x="58909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2720664" y="179135"/>
              <a:ext cx="666817" cy="620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333109" y="3173432"/>
            <a:ext cx="2540611" cy="1329056"/>
            <a:chOff x="0" y="0"/>
            <a:chExt cx="3387481" cy="1772075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256357" cy="1772075"/>
              <a:chOff x="0" y="0"/>
              <a:chExt cx="216502" cy="11781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6502" cy="117818"/>
              </a:xfrm>
              <a:custGeom>
                <a:avLst/>
                <a:gdLst/>
                <a:ahLst/>
                <a:cxnLst/>
                <a:rect r="r" b="b" t="t" l="l"/>
                <a:pathLst>
                  <a:path h="117818" w="216502">
                    <a:moveTo>
                      <a:pt x="58909" y="0"/>
                    </a:moveTo>
                    <a:lnTo>
                      <a:pt x="157593" y="0"/>
                    </a:lnTo>
                    <a:cubicBezTo>
                      <a:pt x="173216" y="0"/>
                      <a:pt x="188200" y="6206"/>
                      <a:pt x="199248" y="17254"/>
                    </a:cubicBezTo>
                    <a:cubicBezTo>
                      <a:pt x="210295" y="28302"/>
                      <a:pt x="216502" y="43285"/>
                      <a:pt x="216502" y="58909"/>
                    </a:cubicBezTo>
                    <a:lnTo>
                      <a:pt x="216502" y="58909"/>
                    </a:lnTo>
                    <a:cubicBezTo>
                      <a:pt x="216502" y="91444"/>
                      <a:pt x="190127" y="117818"/>
                      <a:pt x="157593" y="117818"/>
                    </a:cubicBezTo>
                    <a:lnTo>
                      <a:pt x="58909" y="117818"/>
                    </a:lnTo>
                    <a:cubicBezTo>
                      <a:pt x="26374" y="117818"/>
                      <a:pt x="0" y="91444"/>
                      <a:pt x="0" y="58909"/>
                    </a:cubicBezTo>
                    <a:lnTo>
                      <a:pt x="0" y="58909"/>
                    </a:lnTo>
                    <a:cubicBezTo>
                      <a:pt x="0" y="26374"/>
                      <a:pt x="26374" y="0"/>
                      <a:pt x="58909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2720664" y="179135"/>
              <a:ext cx="666817" cy="620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4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573259" y="3339494"/>
            <a:ext cx="2174802" cy="93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1"/>
              </a:lnSpc>
              <a:spcBef>
                <a:spcPct val="0"/>
              </a:spcBef>
            </a:pPr>
            <a:r>
              <a:rPr lang="en-US" b="true" sz="271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SLA_Respected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61095" y="3339494"/>
            <a:ext cx="2174802" cy="93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1"/>
              </a:lnSpc>
              <a:spcBef>
                <a:spcPct val="0"/>
              </a:spcBef>
            </a:pPr>
            <a:r>
              <a:rPr lang="en-US" b="true" sz="271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Latency_Score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16014" y="3339494"/>
            <a:ext cx="2174802" cy="93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1"/>
              </a:lnSpc>
              <a:spcBef>
                <a:spcPct val="0"/>
              </a:spcBef>
            </a:pPr>
            <a:r>
              <a:rPr lang="en-US" b="true" sz="2715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Aggregated_QoS_Score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09" y="2614182"/>
            <a:ext cx="17988182" cy="6410475"/>
          </a:xfrm>
          <a:custGeom>
            <a:avLst/>
            <a:gdLst/>
            <a:ahLst/>
            <a:cxnLst/>
            <a:rect r="r" b="b" t="t" l="l"/>
            <a:pathLst>
              <a:path h="6410475" w="17988182">
                <a:moveTo>
                  <a:pt x="0" y="0"/>
                </a:moveTo>
                <a:lnTo>
                  <a:pt x="17988182" y="0"/>
                </a:lnTo>
                <a:lnTo>
                  <a:pt x="17988182" y="6410476"/>
                </a:lnTo>
                <a:lnTo>
                  <a:pt x="0" y="6410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60848" y="990600"/>
            <a:ext cx="10170460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ML models comparison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119" y="4213064"/>
            <a:ext cx="17199762" cy="2692926"/>
          </a:xfrm>
          <a:custGeom>
            <a:avLst/>
            <a:gdLst/>
            <a:ahLst/>
            <a:cxnLst/>
            <a:rect r="r" b="b" t="t" l="l"/>
            <a:pathLst>
              <a:path h="2692926" w="17199762">
                <a:moveTo>
                  <a:pt x="0" y="0"/>
                </a:moveTo>
                <a:lnTo>
                  <a:pt x="17199762" y="0"/>
                </a:lnTo>
                <a:lnTo>
                  <a:pt x="17199762" y="2692927"/>
                </a:lnTo>
                <a:lnTo>
                  <a:pt x="0" y="269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83757" y="666723"/>
            <a:ext cx="9893509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-374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Cross-Validation &amp; Hyperparameter Tuning —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9342" y="-215007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9517" y="1028700"/>
            <a:ext cx="6310432" cy="7648937"/>
            <a:chOff x="0" y="0"/>
            <a:chExt cx="660400" cy="8004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00477"/>
            </a:xfrm>
            <a:custGeom>
              <a:avLst/>
              <a:gdLst/>
              <a:ahLst/>
              <a:cxnLst/>
              <a:rect r="r" b="b" t="t" l="l"/>
              <a:pathLst>
                <a:path h="80047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228"/>
                  </a:cubicBezTo>
                  <a:lnTo>
                    <a:pt x="660400" y="800477"/>
                  </a:lnTo>
                  <a:lnTo>
                    <a:pt x="0" y="800477"/>
                  </a:lnTo>
                  <a:lnTo>
                    <a:pt x="0" y="32857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A4DCD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89342" y="2897886"/>
            <a:ext cx="6517890" cy="4965447"/>
          </a:xfrm>
          <a:custGeom>
            <a:avLst/>
            <a:gdLst/>
            <a:ahLst/>
            <a:cxnLst/>
            <a:rect r="r" b="b" t="t" l="l"/>
            <a:pathLst>
              <a:path h="4965447" w="6517890">
                <a:moveTo>
                  <a:pt x="0" y="0"/>
                </a:moveTo>
                <a:lnTo>
                  <a:pt x="6517890" y="0"/>
                </a:lnTo>
                <a:lnTo>
                  <a:pt x="6517890" y="4965447"/>
                </a:lnTo>
                <a:lnTo>
                  <a:pt x="0" y="4965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29931" y="4048043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0" y="0"/>
                </a:lnTo>
                <a:lnTo>
                  <a:pt x="7804180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74344">
            <a:off x="14186450" y="-1020110"/>
            <a:ext cx="4342658" cy="5467863"/>
          </a:xfrm>
          <a:custGeom>
            <a:avLst/>
            <a:gdLst/>
            <a:ahLst/>
            <a:cxnLst/>
            <a:rect r="r" b="b" t="t" l="l"/>
            <a:pathLst>
              <a:path h="5467863" w="4342658">
                <a:moveTo>
                  <a:pt x="0" y="0"/>
                </a:moveTo>
                <a:lnTo>
                  <a:pt x="4342658" y="0"/>
                </a:lnTo>
                <a:lnTo>
                  <a:pt x="4342658" y="5467864"/>
                </a:lnTo>
                <a:lnTo>
                  <a:pt x="0" y="5467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939930">
            <a:off x="-841179" y="8253544"/>
            <a:ext cx="3461041" cy="4357815"/>
          </a:xfrm>
          <a:custGeom>
            <a:avLst/>
            <a:gdLst/>
            <a:ahLst/>
            <a:cxnLst/>
            <a:rect r="r" b="b" t="t" l="l"/>
            <a:pathLst>
              <a:path h="4357815" w="3461041">
                <a:moveTo>
                  <a:pt x="0" y="0"/>
                </a:moveTo>
                <a:lnTo>
                  <a:pt x="3461041" y="0"/>
                </a:lnTo>
                <a:lnTo>
                  <a:pt x="3461041" y="4357814"/>
                </a:lnTo>
                <a:lnTo>
                  <a:pt x="0" y="43578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51781" y="743316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28286" y="8596174"/>
            <a:ext cx="929493" cy="1022578"/>
          </a:xfrm>
          <a:custGeom>
            <a:avLst/>
            <a:gdLst/>
            <a:ahLst/>
            <a:cxnLst/>
            <a:rect r="r" b="b" t="t" l="l"/>
            <a:pathLst>
              <a:path h="1022578" w="929493">
                <a:moveTo>
                  <a:pt x="0" y="0"/>
                </a:moveTo>
                <a:lnTo>
                  <a:pt x="929493" y="0"/>
                </a:lnTo>
                <a:lnTo>
                  <a:pt x="929493" y="1022578"/>
                </a:lnTo>
                <a:lnTo>
                  <a:pt x="0" y="1022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49769" y="3948474"/>
            <a:ext cx="6764504" cy="449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Datascience objective n ° 2</a:t>
            </a: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Estimate QoS compliance probability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9769" y="8388394"/>
            <a:ext cx="614526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6G Dataset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878" y="6704250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819" y="-2631221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0325" y="-386743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6899" y="990600"/>
            <a:ext cx="702156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probabilistic regression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7856" y="4399005"/>
            <a:ext cx="5287777" cy="5185861"/>
            <a:chOff x="0" y="0"/>
            <a:chExt cx="829754" cy="8137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9754" cy="813761"/>
            </a:xfrm>
            <a:custGeom>
              <a:avLst/>
              <a:gdLst/>
              <a:ahLst/>
              <a:cxnLst/>
              <a:rect r="r" b="b" t="t" l="l"/>
              <a:pathLst>
                <a:path h="813761" w="829754">
                  <a:moveTo>
                    <a:pt x="51244" y="0"/>
                  </a:moveTo>
                  <a:lnTo>
                    <a:pt x="778510" y="0"/>
                  </a:lnTo>
                  <a:cubicBezTo>
                    <a:pt x="792101" y="0"/>
                    <a:pt x="805135" y="5399"/>
                    <a:pt x="814745" y="15009"/>
                  </a:cubicBezTo>
                  <a:cubicBezTo>
                    <a:pt x="824355" y="24619"/>
                    <a:pt x="829754" y="37653"/>
                    <a:pt x="829754" y="51244"/>
                  </a:cubicBezTo>
                  <a:lnTo>
                    <a:pt x="829754" y="762517"/>
                  </a:lnTo>
                  <a:cubicBezTo>
                    <a:pt x="829754" y="790819"/>
                    <a:pt x="806811" y="813761"/>
                    <a:pt x="778510" y="813761"/>
                  </a:cubicBezTo>
                  <a:lnTo>
                    <a:pt x="51244" y="813761"/>
                  </a:lnTo>
                  <a:cubicBezTo>
                    <a:pt x="37653" y="813761"/>
                    <a:pt x="24619" y="808363"/>
                    <a:pt x="15009" y="798752"/>
                  </a:cubicBezTo>
                  <a:cubicBezTo>
                    <a:pt x="5399" y="789142"/>
                    <a:pt x="0" y="776108"/>
                    <a:pt x="0" y="762517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578464" y="4399005"/>
            <a:ext cx="5287777" cy="5185861"/>
            <a:chOff x="0" y="0"/>
            <a:chExt cx="829754" cy="8137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9754" cy="813761"/>
            </a:xfrm>
            <a:custGeom>
              <a:avLst/>
              <a:gdLst/>
              <a:ahLst/>
              <a:cxnLst/>
              <a:rect r="r" b="b" t="t" l="l"/>
              <a:pathLst>
                <a:path h="813761" w="829754">
                  <a:moveTo>
                    <a:pt x="51244" y="0"/>
                  </a:moveTo>
                  <a:lnTo>
                    <a:pt x="778510" y="0"/>
                  </a:lnTo>
                  <a:cubicBezTo>
                    <a:pt x="792101" y="0"/>
                    <a:pt x="805135" y="5399"/>
                    <a:pt x="814745" y="15009"/>
                  </a:cubicBezTo>
                  <a:cubicBezTo>
                    <a:pt x="824355" y="24619"/>
                    <a:pt x="829754" y="37653"/>
                    <a:pt x="829754" y="51244"/>
                  </a:cubicBezTo>
                  <a:lnTo>
                    <a:pt x="829754" y="762517"/>
                  </a:lnTo>
                  <a:cubicBezTo>
                    <a:pt x="829754" y="790819"/>
                    <a:pt x="806811" y="813761"/>
                    <a:pt x="778510" y="813761"/>
                  </a:cubicBezTo>
                  <a:lnTo>
                    <a:pt x="51244" y="813761"/>
                  </a:lnTo>
                  <a:cubicBezTo>
                    <a:pt x="37653" y="813761"/>
                    <a:pt x="24619" y="808363"/>
                    <a:pt x="15009" y="798752"/>
                  </a:cubicBezTo>
                  <a:cubicBezTo>
                    <a:pt x="5399" y="789142"/>
                    <a:pt x="0" y="776108"/>
                    <a:pt x="0" y="762517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00111" y="4399005"/>
            <a:ext cx="5287777" cy="5185861"/>
            <a:chOff x="0" y="0"/>
            <a:chExt cx="829754" cy="8137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9754" cy="813761"/>
            </a:xfrm>
            <a:custGeom>
              <a:avLst/>
              <a:gdLst/>
              <a:ahLst/>
              <a:cxnLst/>
              <a:rect r="r" b="b" t="t" l="l"/>
              <a:pathLst>
                <a:path h="813761" w="829754">
                  <a:moveTo>
                    <a:pt x="51244" y="0"/>
                  </a:moveTo>
                  <a:lnTo>
                    <a:pt x="778510" y="0"/>
                  </a:lnTo>
                  <a:cubicBezTo>
                    <a:pt x="792101" y="0"/>
                    <a:pt x="805135" y="5399"/>
                    <a:pt x="814745" y="15009"/>
                  </a:cubicBezTo>
                  <a:cubicBezTo>
                    <a:pt x="824355" y="24619"/>
                    <a:pt x="829754" y="37653"/>
                    <a:pt x="829754" y="51244"/>
                  </a:cubicBezTo>
                  <a:lnTo>
                    <a:pt x="829754" y="762517"/>
                  </a:lnTo>
                  <a:cubicBezTo>
                    <a:pt x="829754" y="790819"/>
                    <a:pt x="806811" y="813761"/>
                    <a:pt x="778510" y="813761"/>
                  </a:cubicBezTo>
                  <a:lnTo>
                    <a:pt x="51244" y="813761"/>
                  </a:lnTo>
                  <a:cubicBezTo>
                    <a:pt x="37653" y="813761"/>
                    <a:pt x="24619" y="808363"/>
                    <a:pt x="15009" y="798752"/>
                  </a:cubicBezTo>
                  <a:cubicBezTo>
                    <a:pt x="5399" y="789142"/>
                    <a:pt x="0" y="776108"/>
                    <a:pt x="0" y="762517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17856" y="5057775"/>
            <a:ext cx="5302860" cy="420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quantify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nfidence level th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a network s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ice respects its SLA.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63381" y="5271722"/>
            <a:ext cx="5302860" cy="335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QoS_P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obabil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 bu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via sigm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 fu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tion</a:t>
            </a:r>
            <a:r>
              <a:rPr lang="en-US" sz="4800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on 4 SLA gap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0111" y="5271722"/>
            <a:ext cx="5302860" cy="335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QoS_Probability = 0.40 → only 40% chance this slice meets its SLA 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4207" y="3183852"/>
            <a:ext cx="11659586" cy="3510549"/>
          </a:xfrm>
          <a:custGeom>
            <a:avLst/>
            <a:gdLst/>
            <a:ahLst/>
            <a:cxnLst/>
            <a:rect r="r" b="b" t="t" l="l"/>
            <a:pathLst>
              <a:path h="3510549" w="11659586">
                <a:moveTo>
                  <a:pt x="0" y="0"/>
                </a:moveTo>
                <a:lnTo>
                  <a:pt x="11659586" y="0"/>
                </a:lnTo>
                <a:lnTo>
                  <a:pt x="11659586" y="3510550"/>
                </a:lnTo>
                <a:lnTo>
                  <a:pt x="0" y="3510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57997"/>
            <a:ext cx="18026641" cy="393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  <a:r>
              <a:rPr lang="en-US" sz="3807" spc="-209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These 4 features directly represent the gap between SLA requirements and actual performance — the most direct signal of QoS compliance.</a:t>
            </a:r>
          </a:p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0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783757" y="666723"/>
            <a:ext cx="989350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Fe</a:t>
            </a:r>
            <a:r>
              <a:rPr lang="en-US" sz="6800" spc="-374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at</a:t>
            </a:r>
            <a:r>
              <a:rPr lang="en-US" sz="6800" spc="-374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ure Eng</a:t>
            </a:r>
            <a:r>
              <a:rPr lang="en-US" sz="6800" spc="-374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ineering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991" y="2174131"/>
            <a:ext cx="7003243" cy="2345011"/>
          </a:xfrm>
          <a:custGeom>
            <a:avLst/>
            <a:gdLst/>
            <a:ahLst/>
            <a:cxnLst/>
            <a:rect r="r" b="b" t="t" l="l"/>
            <a:pathLst>
              <a:path h="2345011" w="7003243">
                <a:moveTo>
                  <a:pt x="0" y="0"/>
                </a:moveTo>
                <a:lnTo>
                  <a:pt x="7003243" y="0"/>
                </a:lnTo>
                <a:lnTo>
                  <a:pt x="7003243" y="2345011"/>
                </a:lnTo>
                <a:lnTo>
                  <a:pt x="0" y="234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137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2623" y="2174131"/>
            <a:ext cx="10477218" cy="7009657"/>
          </a:xfrm>
          <a:custGeom>
            <a:avLst/>
            <a:gdLst/>
            <a:ahLst/>
            <a:cxnLst/>
            <a:rect r="r" b="b" t="t" l="l"/>
            <a:pathLst>
              <a:path h="7009657" w="10477218">
                <a:moveTo>
                  <a:pt x="0" y="0"/>
                </a:moveTo>
                <a:lnTo>
                  <a:pt x="10477218" y="0"/>
                </a:lnTo>
                <a:lnTo>
                  <a:pt x="10477218" y="7009657"/>
                </a:lnTo>
                <a:lnTo>
                  <a:pt x="0" y="70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96" r="-9868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0848" y="990600"/>
            <a:ext cx="10170460" cy="105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3"/>
              </a:lnSpc>
            </a:pPr>
            <a:r>
              <a:rPr lang="en-US" sz="6703" spc="-36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ML models comparison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74296" y="5143500"/>
            <a:ext cx="7186633" cy="4857744"/>
          </a:xfrm>
          <a:custGeom>
            <a:avLst/>
            <a:gdLst/>
            <a:ahLst/>
            <a:cxnLst/>
            <a:rect r="r" b="b" t="t" l="l"/>
            <a:pathLst>
              <a:path h="4857744" w="7186633">
                <a:moveTo>
                  <a:pt x="0" y="0"/>
                </a:moveTo>
                <a:lnTo>
                  <a:pt x="7186633" y="0"/>
                </a:lnTo>
                <a:lnTo>
                  <a:pt x="7186633" y="4857744"/>
                </a:lnTo>
                <a:lnTo>
                  <a:pt x="0" y="4857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424" t="-5796" r="-1311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83757" y="666723"/>
            <a:ext cx="9893509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-374" strike="noStrike" u="none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Cross-Validation &amp; Hyperparameter Tuning —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26308" y="6611027"/>
            <a:ext cx="10644354" cy="1925788"/>
          </a:xfrm>
          <a:custGeom>
            <a:avLst/>
            <a:gdLst/>
            <a:ahLst/>
            <a:cxnLst/>
            <a:rect r="r" b="b" t="t" l="l"/>
            <a:pathLst>
              <a:path h="1925788" w="10644354">
                <a:moveTo>
                  <a:pt x="0" y="0"/>
                </a:moveTo>
                <a:lnTo>
                  <a:pt x="10644355" y="0"/>
                </a:lnTo>
                <a:lnTo>
                  <a:pt x="10644355" y="1925788"/>
                </a:lnTo>
                <a:lnTo>
                  <a:pt x="0" y="1925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147138"/>
            <a:ext cx="11301259" cy="1935341"/>
          </a:xfrm>
          <a:custGeom>
            <a:avLst/>
            <a:gdLst/>
            <a:ahLst/>
            <a:cxnLst/>
            <a:rect r="r" b="b" t="t" l="l"/>
            <a:pathLst>
              <a:path h="1935341" w="11301259">
                <a:moveTo>
                  <a:pt x="0" y="0"/>
                </a:moveTo>
                <a:lnTo>
                  <a:pt x="11301259" y="0"/>
                </a:lnTo>
                <a:lnTo>
                  <a:pt x="11301259" y="1935341"/>
                </a:lnTo>
                <a:lnTo>
                  <a:pt x="0" y="1935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10470" y="7887934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15337" y="901663"/>
            <a:ext cx="4876901" cy="8364564"/>
            <a:chOff x="0" y="0"/>
            <a:chExt cx="6502535" cy="1115275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787759"/>
              <a:ext cx="6502535" cy="8107137"/>
              <a:chOff x="0" y="0"/>
              <a:chExt cx="645573" cy="80487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5573" cy="804879"/>
              </a:xfrm>
              <a:custGeom>
                <a:avLst/>
                <a:gdLst/>
                <a:ahLst/>
                <a:cxnLst/>
                <a:rect r="r" b="b" t="t" l="l"/>
                <a:pathLst>
                  <a:path h="804879" w="645573">
                    <a:moveTo>
                      <a:pt x="55561" y="0"/>
                    </a:moveTo>
                    <a:lnTo>
                      <a:pt x="590012" y="0"/>
                    </a:lnTo>
                    <a:cubicBezTo>
                      <a:pt x="620698" y="0"/>
                      <a:pt x="645573" y="24876"/>
                      <a:pt x="645573" y="55561"/>
                    </a:cubicBezTo>
                    <a:lnTo>
                      <a:pt x="645573" y="749317"/>
                    </a:lnTo>
                    <a:cubicBezTo>
                      <a:pt x="645573" y="764053"/>
                      <a:pt x="639720" y="778185"/>
                      <a:pt x="629300" y="788605"/>
                    </a:cubicBezTo>
                    <a:cubicBezTo>
                      <a:pt x="618880" y="799025"/>
                      <a:pt x="604748" y="804879"/>
                      <a:pt x="590012" y="804879"/>
                    </a:cubicBezTo>
                    <a:lnTo>
                      <a:pt x="55561" y="804879"/>
                    </a:lnTo>
                    <a:cubicBezTo>
                      <a:pt x="24876" y="804879"/>
                      <a:pt x="0" y="780003"/>
                      <a:pt x="0" y="749317"/>
                    </a:cubicBezTo>
                    <a:lnTo>
                      <a:pt x="0" y="55561"/>
                    </a:lnTo>
                    <a:cubicBezTo>
                      <a:pt x="0" y="24876"/>
                      <a:pt x="24876" y="0"/>
                      <a:pt x="5556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6502535" cy="2405198"/>
              <a:chOff x="0" y="0"/>
              <a:chExt cx="755560" cy="2794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55560" cy="279471"/>
              </a:xfrm>
              <a:custGeom>
                <a:avLst/>
                <a:gdLst/>
                <a:ahLst/>
                <a:cxnLst/>
                <a:rect r="r" b="b" t="t" l="l"/>
                <a:pathLst>
                  <a:path h="279471" w="755560">
                    <a:moveTo>
                      <a:pt x="55561" y="0"/>
                    </a:moveTo>
                    <a:lnTo>
                      <a:pt x="699998" y="0"/>
                    </a:lnTo>
                    <a:cubicBezTo>
                      <a:pt x="730684" y="0"/>
                      <a:pt x="755560" y="24876"/>
                      <a:pt x="755560" y="55561"/>
                    </a:cubicBezTo>
                    <a:lnTo>
                      <a:pt x="755560" y="223910"/>
                    </a:lnTo>
                    <a:cubicBezTo>
                      <a:pt x="755560" y="254595"/>
                      <a:pt x="730684" y="279471"/>
                      <a:pt x="699998" y="279471"/>
                    </a:cubicBezTo>
                    <a:lnTo>
                      <a:pt x="55561" y="279471"/>
                    </a:lnTo>
                    <a:cubicBezTo>
                      <a:pt x="24876" y="279471"/>
                      <a:pt x="0" y="254595"/>
                      <a:pt x="0" y="223910"/>
                    </a:cubicBezTo>
                    <a:lnTo>
                      <a:pt x="0" y="55561"/>
                    </a:lnTo>
                    <a:cubicBezTo>
                      <a:pt x="0" y="24876"/>
                      <a:pt x="24876" y="0"/>
                      <a:pt x="55561" y="0"/>
                    </a:cubicBezTo>
                    <a:close/>
                  </a:path>
                </a:pathLst>
              </a:custGeom>
              <a:solidFill>
                <a:srgbClr val="FDC74D">
                  <a:alpha val="25882"/>
                </a:srgbClr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718306" y="345984"/>
              <a:ext cx="5021083" cy="1646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What worked well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46118" y="3172495"/>
              <a:ext cx="5365459" cy="79802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6" indent="-248283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We corrected the data leakage  </a:t>
              </a:r>
            </a:p>
            <a:p>
              <a:pPr algn="l">
                <a:lnSpc>
                  <a:spcPts val="3219"/>
                </a:lnSpc>
              </a:pPr>
            </a:p>
            <a:p>
              <a:pPr algn="l" marL="496566" indent="-248283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XGBoost dominant for classification (F1=0.9775)</a:t>
              </a:r>
            </a:p>
            <a:p>
              <a:pPr algn="l">
                <a:lnSpc>
                  <a:spcPts val="3219"/>
                </a:lnSpc>
              </a:pPr>
            </a:p>
            <a:p>
              <a:pPr algn="l" marL="496566" indent="-248283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Random Forest solid for regression (R²=0.845)</a:t>
              </a:r>
            </a:p>
            <a:p>
              <a:pPr algn="l">
                <a:lnSpc>
                  <a:spcPts val="3219"/>
                </a:lnSpc>
              </a:pPr>
            </a:p>
            <a:p>
              <a:pPr algn="l" marL="496566" indent="-248283" lvl="1">
                <a:lnSpc>
                  <a:spcPts val="321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Cross-validation confirms generalization on both objectives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34998" y="3608293"/>
            <a:ext cx="3936112" cy="501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Dataset is synthetic → real-world performance may differ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QoS_Probability target was engineered, not measured directly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Class 2 (only 1 sample) had to be removed from Obj 5.1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483733" y="2930880"/>
            <a:ext cx="6311479" cy="5906791"/>
            <a:chOff x="0" y="0"/>
            <a:chExt cx="977813" cy="915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7813" cy="915117"/>
            </a:xfrm>
            <a:custGeom>
              <a:avLst/>
              <a:gdLst/>
              <a:ahLst/>
              <a:cxnLst/>
              <a:rect r="r" b="b" t="t" l="l"/>
              <a:pathLst>
                <a:path h="915117" w="977813">
                  <a:moveTo>
                    <a:pt x="42932" y="0"/>
                  </a:moveTo>
                  <a:lnTo>
                    <a:pt x="934881" y="0"/>
                  </a:lnTo>
                  <a:cubicBezTo>
                    <a:pt x="958592" y="0"/>
                    <a:pt x="977813" y="19222"/>
                    <a:pt x="977813" y="42932"/>
                  </a:cubicBezTo>
                  <a:lnTo>
                    <a:pt x="977813" y="872184"/>
                  </a:lnTo>
                  <a:cubicBezTo>
                    <a:pt x="977813" y="883570"/>
                    <a:pt x="973290" y="894491"/>
                    <a:pt x="965239" y="902542"/>
                  </a:cubicBezTo>
                  <a:cubicBezTo>
                    <a:pt x="957187" y="910593"/>
                    <a:pt x="946267" y="915117"/>
                    <a:pt x="934881" y="915117"/>
                  </a:cubicBezTo>
                  <a:lnTo>
                    <a:pt x="42932" y="915117"/>
                  </a:lnTo>
                  <a:cubicBezTo>
                    <a:pt x="31546" y="915117"/>
                    <a:pt x="20626" y="910593"/>
                    <a:pt x="12575" y="902542"/>
                  </a:cubicBezTo>
                  <a:cubicBezTo>
                    <a:pt x="4523" y="894491"/>
                    <a:pt x="0" y="883570"/>
                    <a:pt x="0" y="872184"/>
                  </a:cubicBezTo>
                  <a:lnTo>
                    <a:pt x="0" y="42932"/>
                  </a:lnTo>
                  <a:cubicBezTo>
                    <a:pt x="0" y="31546"/>
                    <a:pt x="4523" y="20626"/>
                    <a:pt x="12575" y="12575"/>
                  </a:cubicBezTo>
                  <a:cubicBezTo>
                    <a:pt x="20626" y="4523"/>
                    <a:pt x="31546" y="0"/>
                    <a:pt x="42932" y="0"/>
                  </a:cubicBezTo>
                  <a:close/>
                </a:path>
              </a:pathLst>
            </a:custGeom>
            <a:solidFill>
              <a:srgbClr val="FDC74D">
                <a:alpha val="25882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5243640" y="2131828"/>
            <a:ext cx="1551571" cy="1355717"/>
          </a:xfrm>
          <a:custGeom>
            <a:avLst/>
            <a:gdLst/>
            <a:ahLst/>
            <a:cxnLst/>
            <a:rect r="r" b="b" t="t" l="l"/>
            <a:pathLst>
              <a:path h="1355717" w="1551571">
                <a:moveTo>
                  <a:pt x="0" y="0"/>
                </a:moveTo>
                <a:lnTo>
                  <a:pt x="1551572" y="0"/>
                </a:lnTo>
                <a:lnTo>
                  <a:pt x="1551572" y="1355717"/>
                </a:lnTo>
                <a:lnTo>
                  <a:pt x="0" y="1355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451465" y="2241303"/>
            <a:ext cx="1919645" cy="83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Limits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4849" y="3976916"/>
            <a:ext cx="9907644" cy="5647357"/>
          </a:xfrm>
          <a:custGeom>
            <a:avLst/>
            <a:gdLst/>
            <a:ahLst/>
            <a:cxnLst/>
            <a:rect r="r" b="b" t="t" l="l"/>
            <a:pathLst>
              <a:path h="5647357" w="9907644">
                <a:moveTo>
                  <a:pt x="0" y="0"/>
                </a:moveTo>
                <a:lnTo>
                  <a:pt x="9907644" y="0"/>
                </a:lnTo>
                <a:lnTo>
                  <a:pt x="9907644" y="5647357"/>
                </a:lnTo>
                <a:lnTo>
                  <a:pt x="0" y="564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27205"/>
            <a:ext cx="18288000" cy="10770304"/>
          </a:xfrm>
          <a:custGeom>
            <a:avLst/>
            <a:gdLst/>
            <a:ahLst/>
            <a:cxnLst/>
            <a:rect r="r" b="b" t="t" l="l"/>
            <a:pathLst>
              <a:path h="10770304" w="18288000">
                <a:moveTo>
                  <a:pt x="0" y="0"/>
                </a:moveTo>
                <a:lnTo>
                  <a:pt x="18288000" y="0"/>
                </a:lnTo>
                <a:lnTo>
                  <a:pt x="18288000" y="10770304"/>
                </a:lnTo>
                <a:lnTo>
                  <a:pt x="0" y="10770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98" t="0" r="-3398" b="-3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5304" y="18322"/>
            <a:ext cx="10170460" cy="101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6403" spc="-352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Heading Now 71-78"/>
                <a:ea typeface="Heading Now 71-78"/>
                <a:cs typeface="Heading Now 71-78"/>
                <a:sym typeface="Heading Now 71-78"/>
              </a:rPr>
              <a:t>Conclusion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18263" y="4331957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1083" y="-1624853"/>
            <a:ext cx="7804181" cy="6768353"/>
          </a:xfrm>
          <a:custGeom>
            <a:avLst/>
            <a:gdLst/>
            <a:ahLst/>
            <a:cxnLst/>
            <a:rect r="r" b="b" t="t" l="l"/>
            <a:pathLst>
              <a:path h="6768353" w="7804181">
                <a:moveTo>
                  <a:pt x="0" y="0"/>
                </a:moveTo>
                <a:lnTo>
                  <a:pt x="7804181" y="0"/>
                </a:lnTo>
                <a:lnTo>
                  <a:pt x="7804181" y="6768353"/>
                </a:lnTo>
                <a:lnTo>
                  <a:pt x="0" y="6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88295" y="3212305"/>
            <a:ext cx="13711411" cy="3894273"/>
            <a:chOff x="0" y="0"/>
            <a:chExt cx="3611236" cy="1025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1236" cy="1025652"/>
            </a:xfrm>
            <a:custGeom>
              <a:avLst/>
              <a:gdLst/>
              <a:ahLst/>
              <a:cxnLst/>
              <a:rect r="r" b="b" t="t" l="l"/>
              <a:pathLst>
                <a:path h="1025652" w="3611236">
                  <a:moveTo>
                    <a:pt x="28796" y="0"/>
                  </a:moveTo>
                  <a:lnTo>
                    <a:pt x="3582439" y="0"/>
                  </a:lnTo>
                  <a:cubicBezTo>
                    <a:pt x="3590077" y="0"/>
                    <a:pt x="3597401" y="3034"/>
                    <a:pt x="3602801" y="8434"/>
                  </a:cubicBezTo>
                  <a:cubicBezTo>
                    <a:pt x="3608202" y="13835"/>
                    <a:pt x="3611236" y="21159"/>
                    <a:pt x="3611236" y="28796"/>
                  </a:cubicBezTo>
                  <a:lnTo>
                    <a:pt x="3611236" y="996856"/>
                  </a:lnTo>
                  <a:cubicBezTo>
                    <a:pt x="3611236" y="1004493"/>
                    <a:pt x="3608202" y="1011818"/>
                    <a:pt x="3602801" y="1017218"/>
                  </a:cubicBezTo>
                  <a:cubicBezTo>
                    <a:pt x="3597401" y="1022618"/>
                    <a:pt x="3590077" y="1025652"/>
                    <a:pt x="3582439" y="1025652"/>
                  </a:cubicBezTo>
                  <a:lnTo>
                    <a:pt x="28796" y="1025652"/>
                  </a:lnTo>
                  <a:cubicBezTo>
                    <a:pt x="21159" y="1025652"/>
                    <a:pt x="13835" y="1022618"/>
                    <a:pt x="8434" y="1017218"/>
                  </a:cubicBezTo>
                  <a:cubicBezTo>
                    <a:pt x="3034" y="1011818"/>
                    <a:pt x="0" y="1004493"/>
                    <a:pt x="0" y="996856"/>
                  </a:cubicBezTo>
                  <a:lnTo>
                    <a:pt x="0" y="28796"/>
                  </a:lnTo>
                  <a:cubicBezTo>
                    <a:pt x="0" y="21159"/>
                    <a:pt x="3034" y="13835"/>
                    <a:pt x="8434" y="8434"/>
                  </a:cubicBezTo>
                  <a:cubicBezTo>
                    <a:pt x="13835" y="3034"/>
                    <a:pt x="21159" y="0"/>
                    <a:pt x="28796" y="0"/>
                  </a:cubicBezTo>
                  <a:close/>
                </a:path>
              </a:pathLst>
            </a:custGeom>
            <a:solidFill>
              <a:srgbClr val="FDC7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611236" cy="1073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316833" y="2376297"/>
            <a:ext cx="2103520" cy="534317"/>
          </a:xfrm>
          <a:custGeom>
            <a:avLst/>
            <a:gdLst/>
            <a:ahLst/>
            <a:cxnLst/>
            <a:rect r="r" b="b" t="t" l="l"/>
            <a:pathLst>
              <a:path h="534317" w="2103520">
                <a:moveTo>
                  <a:pt x="0" y="0"/>
                </a:moveTo>
                <a:lnTo>
                  <a:pt x="2103521" y="0"/>
                </a:lnTo>
                <a:lnTo>
                  <a:pt x="2103521" y="534316"/>
                </a:lnTo>
                <a:lnTo>
                  <a:pt x="0" y="53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4752" y="7352383"/>
            <a:ext cx="2103520" cy="534317"/>
          </a:xfrm>
          <a:custGeom>
            <a:avLst/>
            <a:gdLst/>
            <a:ahLst/>
            <a:cxnLst/>
            <a:rect r="r" b="b" t="t" l="l"/>
            <a:pathLst>
              <a:path h="534317" w="2103520">
                <a:moveTo>
                  <a:pt x="0" y="0"/>
                </a:moveTo>
                <a:lnTo>
                  <a:pt x="2103520" y="0"/>
                </a:lnTo>
                <a:lnTo>
                  <a:pt x="2103520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1571" y="4293857"/>
            <a:ext cx="1130485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for your attention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555613" y="126853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19" y="0"/>
                </a:lnTo>
                <a:lnTo>
                  <a:pt x="892219" y="981571"/>
                </a:lnTo>
                <a:lnTo>
                  <a:pt x="0" y="98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2590" y="4011967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99111" y="8276728"/>
            <a:ext cx="892219" cy="981572"/>
          </a:xfrm>
          <a:custGeom>
            <a:avLst/>
            <a:gdLst/>
            <a:ahLst/>
            <a:cxnLst/>
            <a:rect r="r" b="b" t="t" l="l"/>
            <a:pathLst>
              <a:path h="981572" w="892219">
                <a:moveTo>
                  <a:pt x="0" y="0"/>
                </a:moveTo>
                <a:lnTo>
                  <a:pt x="892220" y="0"/>
                </a:lnTo>
                <a:lnTo>
                  <a:pt x="892220" y="981572"/>
                </a:lnTo>
                <a:lnTo>
                  <a:pt x="0" y="981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DAHFWgGfTss</dc:identifier>
  <dcterms:modified xsi:type="dcterms:W3CDTF">2011-08-01T06:04:30Z</dcterms:modified>
  <cp:revision>1</cp:revision>
  <dc:title>Blue and Purple Illustrated Networking Presentation</dc:title>
</cp:coreProperties>
</file>